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olors1.xml" ContentType="application/vnd.ms-office.chartcolorstyle+xml"/>
  <Override PartName="/ppt/charts/colors10.xml" ContentType="application/vnd.ms-office.chartcolorstyle+xml"/>
  <Override PartName="/ppt/charts/colors11.xml" ContentType="application/vnd.ms-office.chartcolorstyle+xml"/>
  <Override PartName="/ppt/charts/colors12.xml" ContentType="application/vnd.ms-office.chartcolorstyle+xml"/>
  <Override PartName="/ppt/charts/colors13.xml" ContentType="application/vnd.ms-office.chartcolorstyle+xml"/>
  <Override PartName="/ppt/charts/colors14.xml" ContentType="application/vnd.ms-office.chartcolorstyle+xml"/>
  <Override PartName="/ppt/charts/colors15.xml" ContentType="application/vnd.ms-office.chartcolorstyle+xml"/>
  <Override PartName="/ppt/charts/colors16.xml" ContentType="application/vnd.ms-office.chartcolorstyle+xml"/>
  <Override PartName="/ppt/charts/colors17.xml" ContentType="application/vnd.ms-office.chartcolorstyle+xml"/>
  <Override PartName="/ppt/charts/colors18.xml" ContentType="application/vnd.ms-office.chartcolorstyle+xml"/>
  <Override PartName="/ppt/charts/colors19.xml" ContentType="application/vnd.ms-office.chartcolorstyle+xml"/>
  <Override PartName="/ppt/charts/colors2.xml" ContentType="application/vnd.ms-office.chartcolorstyle+xml"/>
  <Override PartName="/ppt/charts/colors20.xml" ContentType="application/vnd.ms-office.chartcolorstyle+xml"/>
  <Override PartName="/ppt/charts/colors21.xml" ContentType="application/vnd.ms-office.chartcolorstyle+xml"/>
  <Override PartName="/ppt/charts/colors22.xml" ContentType="application/vnd.ms-office.chartcolorstyle+xml"/>
  <Override PartName="/ppt/charts/colors23.xml" ContentType="application/vnd.ms-office.chartcolorstyle+xml"/>
  <Override PartName="/ppt/charts/colors24.xml" ContentType="application/vnd.ms-office.chartcolorstyle+xml"/>
  <Override PartName="/ppt/charts/colors25.xml" ContentType="application/vnd.ms-office.chartcolorstyle+xml"/>
  <Override PartName="/ppt/charts/colors26.xml" ContentType="application/vnd.ms-office.chartcolorstyle+xml"/>
  <Override PartName="/ppt/charts/colors27.xml" ContentType="application/vnd.ms-office.chartcolorstyle+xml"/>
  <Override PartName="/ppt/charts/colors28.xml" ContentType="application/vnd.ms-office.chartcolorstyle+xml"/>
  <Override PartName="/ppt/charts/colors29.xml" ContentType="application/vnd.ms-office.chartcolorstyle+xml"/>
  <Override PartName="/ppt/charts/colors3.xml" ContentType="application/vnd.ms-office.chartcolorstyle+xml"/>
  <Override PartName="/ppt/charts/colors30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colors8.xml" ContentType="application/vnd.ms-office.chartcolorstyle+xml"/>
  <Override PartName="/ppt/charts/colors9.xml" ContentType="application/vnd.ms-office.chartcolorstyle+xml"/>
  <Override PartName="/ppt/charts/style1.xml" ContentType="application/vnd.ms-office.chartstyle+xml"/>
  <Override PartName="/ppt/charts/style10.xml" ContentType="application/vnd.ms-office.chartstyle+xml"/>
  <Override PartName="/ppt/charts/style11.xml" ContentType="application/vnd.ms-office.chartstyle+xml"/>
  <Override PartName="/ppt/charts/style12.xml" ContentType="application/vnd.ms-office.chartstyle+xml"/>
  <Override PartName="/ppt/charts/style13.xml" ContentType="application/vnd.ms-office.chartstyle+xml"/>
  <Override PartName="/ppt/charts/style14.xml" ContentType="application/vnd.ms-office.chartstyle+xml"/>
  <Override PartName="/ppt/charts/style15.xml" ContentType="application/vnd.ms-office.chartstyle+xml"/>
  <Override PartName="/ppt/charts/style16.xml" ContentType="application/vnd.ms-office.chartstyle+xml"/>
  <Override PartName="/ppt/charts/style17.xml" ContentType="application/vnd.ms-office.chartstyle+xml"/>
  <Override PartName="/ppt/charts/style18.xml" ContentType="application/vnd.ms-office.chartstyle+xml"/>
  <Override PartName="/ppt/charts/style19.xml" ContentType="application/vnd.ms-office.chartstyle+xml"/>
  <Override PartName="/ppt/charts/style2.xml" ContentType="application/vnd.ms-office.chartstyle+xml"/>
  <Override PartName="/ppt/charts/style20.xml" ContentType="application/vnd.ms-office.chartstyle+xml"/>
  <Override PartName="/ppt/charts/style21.xml" ContentType="application/vnd.ms-office.chartstyle+xml"/>
  <Override PartName="/ppt/charts/style22.xml" ContentType="application/vnd.ms-office.chartstyle+xml"/>
  <Override PartName="/ppt/charts/style23.xml" ContentType="application/vnd.ms-office.chartstyle+xml"/>
  <Override PartName="/ppt/charts/style24.xml" ContentType="application/vnd.ms-office.chartstyle+xml"/>
  <Override PartName="/ppt/charts/style25.xml" ContentType="application/vnd.ms-office.chartstyle+xml"/>
  <Override PartName="/ppt/charts/style26.xml" ContentType="application/vnd.ms-office.chartstyle+xml"/>
  <Override PartName="/ppt/charts/style27.xml" ContentType="application/vnd.ms-office.chartstyle+xml"/>
  <Override PartName="/ppt/charts/style28.xml" ContentType="application/vnd.ms-office.chartstyle+xml"/>
  <Override PartName="/ppt/charts/style29.xml" ContentType="application/vnd.ms-office.chartstyle+xml"/>
  <Override PartName="/ppt/charts/style3.xml" ContentType="application/vnd.ms-office.chartstyle+xml"/>
  <Override PartName="/ppt/charts/style30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charts/style8.xml" ContentType="application/vnd.ms-office.chartstyle+xml"/>
  <Override PartName="/ppt/charts/style9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9"/>
  </p:notesMasterIdLst>
  <p:handoutMasterIdLst>
    <p:handoutMasterId r:id="rId30"/>
  </p:handoutMasterIdLst>
  <p:sldIdLst>
    <p:sldId id="256" r:id="rId2"/>
    <p:sldId id="257" r:id="rId3"/>
    <p:sldId id="259" r:id="rId4"/>
    <p:sldId id="261" r:id="rId5"/>
    <p:sldId id="281" r:id="rId6"/>
    <p:sldId id="282" r:id="rId7"/>
    <p:sldId id="284" r:id="rId8"/>
    <p:sldId id="285" r:id="rId9"/>
    <p:sldId id="262" r:id="rId10"/>
    <p:sldId id="263" r:id="rId11"/>
    <p:sldId id="287" r:id="rId12"/>
    <p:sldId id="289" r:id="rId13"/>
    <p:sldId id="264" r:id="rId14"/>
    <p:sldId id="286" r:id="rId15"/>
    <p:sldId id="290" r:id="rId16"/>
    <p:sldId id="291" r:id="rId17"/>
    <p:sldId id="292" r:id="rId18"/>
    <p:sldId id="293" r:id="rId19"/>
    <p:sldId id="294" r:id="rId20"/>
    <p:sldId id="266" r:id="rId21"/>
    <p:sldId id="268" r:id="rId22"/>
    <p:sldId id="269" r:id="rId23"/>
    <p:sldId id="280" r:id="rId24"/>
    <p:sldId id="274" r:id="rId25"/>
    <p:sldId id="278" r:id="rId26"/>
    <p:sldId id="275" r:id="rId27"/>
    <p:sldId id="2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1" userDrawn="1">
          <p15:clr>
            <a:srgbClr val="C35EA4"/>
          </p15:clr>
        </p15:guide>
        <p15:guide id="2" pos="3341" userDrawn="1">
          <p15:clr>
            <a:srgbClr val="C35EA4"/>
          </p15:clr>
        </p15:guide>
        <p15:guide id="4" pos="3840" userDrawn="1">
          <p15:clr>
            <a:srgbClr val="A4A3A4"/>
          </p15:clr>
        </p15:guide>
        <p15:guide id="5" orient="horz" pos="1321" userDrawn="1">
          <p15:clr>
            <a:srgbClr val="A4A3A4"/>
          </p15:clr>
        </p15:guide>
        <p15:guide id="6" orient="horz" pos="21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EBEB"/>
    <a:srgbClr val="203864"/>
    <a:srgbClr val="0A2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5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62" y="102"/>
      </p:cViewPr>
      <p:guideLst>
        <p:guide pos="3931"/>
        <p:guide pos="3341"/>
        <p:guide pos="3840"/>
        <p:guide orient="horz" pos="1321"/>
        <p:guide orient="horz" pos="213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0" d="100"/>
          <a:sy n="120" d="100"/>
        </p:scale>
        <p:origin x="2514" y="11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8.xml"/><Relationship Id="rId2" Type="http://schemas.microsoft.com/office/2011/relationships/chartColorStyle" Target="colors8.xml"/><Relationship Id="rId3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microsoft.com/office/2011/relationships/chartStyle" Target="style9.xml"/><Relationship Id="rId2" Type="http://schemas.microsoft.com/office/2011/relationships/chartColorStyle" Target="colors9.xml"/><Relationship Id="rId3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microsoft.com/office/2011/relationships/chartStyle" Target="style10.xml"/><Relationship Id="rId2" Type="http://schemas.microsoft.com/office/2011/relationships/chartColorStyle" Target="colors10.xml"/><Relationship Id="rId3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microsoft.com/office/2011/relationships/chartStyle" Target="style11.xml"/><Relationship Id="rId2" Type="http://schemas.microsoft.com/office/2011/relationships/chartColorStyle" Target="colors11.xml"/><Relationship Id="rId3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microsoft.com/office/2011/relationships/chartStyle" Target="style12.xml"/><Relationship Id="rId2" Type="http://schemas.microsoft.com/office/2011/relationships/chartColorStyle" Target="colors12.xml"/><Relationship Id="rId3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microsoft.com/office/2011/relationships/chartStyle" Target="style13.xml"/><Relationship Id="rId2" Type="http://schemas.microsoft.com/office/2011/relationships/chartColorStyle" Target="colors13.xml"/><Relationship Id="rId3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microsoft.com/office/2011/relationships/chartStyle" Target="style14.xml"/><Relationship Id="rId2" Type="http://schemas.microsoft.com/office/2011/relationships/chartColorStyle" Target="colors14.xml"/><Relationship Id="rId3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microsoft.com/office/2011/relationships/chartStyle" Target="style15.xml"/><Relationship Id="rId2" Type="http://schemas.microsoft.com/office/2011/relationships/chartColorStyle" Target="colors15.xml"/><Relationship Id="rId3" Type="http://schemas.openxmlformats.org/officeDocument/2006/relationships/package" Target="../embeddings/Microsoft_Excel_Worksheet14.xlsx"/></Relationships>
</file>

<file path=ppt/charts/_rels/chart16.xml.rels><?xml version='1.0' encoding='UTF-8' standalone='yes'?>
<Relationships xmlns="http://schemas.openxmlformats.org/package/2006/relationships"><Relationship Id="rId1" Type="http://schemas.microsoft.com/office/2011/relationships/chartStyle" Target="style16.xml"/><Relationship Id="rId2" Type="http://schemas.microsoft.com/office/2011/relationships/chartColorStyle" Target="colors16.xml"/><Relationship Id="rId3" Type="http://schemas.openxmlformats.org/officeDocument/2006/relationships/package" Target="../embeddings/Microsoft_Excel_Worksheet15.xlsx"/></Relationships>
</file>

<file path=ppt/charts/_rels/chart17.xml.rels><?xml version='1.0' encoding='UTF-8' standalone='yes'?>
<Relationships xmlns="http://schemas.openxmlformats.org/package/2006/relationships"><Relationship Id="rId1" Type="http://schemas.microsoft.com/office/2011/relationships/chartStyle" Target="style17.xml"/><Relationship Id="rId2" Type="http://schemas.microsoft.com/office/2011/relationships/chartColorStyle" Target="colors17.xml"/><Relationship Id="rId3" Type="http://schemas.openxmlformats.org/officeDocument/2006/relationships/package" Target="../embeddings/Microsoft_Excel_Worksheet16.xlsx"/></Relationships>
</file>

<file path=ppt/charts/_rels/chart18.xml.rels><?xml version='1.0' encoding='UTF-8' standalone='yes'?>
<Relationships xmlns="http://schemas.openxmlformats.org/package/2006/relationships"><Relationship Id="rId1" Type="http://schemas.microsoft.com/office/2011/relationships/chartStyle" Target="style18.xml"/><Relationship Id="rId2" Type="http://schemas.microsoft.com/office/2011/relationships/chartColorStyle" Target="colors18.xml"/><Relationship Id="rId3" Type="http://schemas.openxmlformats.org/officeDocument/2006/relationships/package" Target="../embeddings/Microsoft_Excel_Worksheet17.xlsx"/></Relationships>
</file>

<file path=ppt/charts/_rels/chart19.xml.rels><?xml version='1.0' encoding='UTF-8' standalone='yes'?>
<Relationships xmlns="http://schemas.openxmlformats.org/package/2006/relationships"><Relationship Id="rId1" Type="http://schemas.microsoft.com/office/2011/relationships/chartStyle" Target="style19.xml"/><Relationship Id="rId2" Type="http://schemas.microsoft.com/office/2011/relationships/chartColorStyle" Target="colors19.xml"/><Relationship Id="rId3" Type="http://schemas.openxmlformats.org/officeDocument/2006/relationships/package" Target="../embeddings/Microsoft_Excel_Worksheet18.xlsx"/></Relationships>
</file>

<file path=ppt/charts/_rels/chart20.xml.rels><?xml version='1.0' encoding='UTF-8' standalone='yes'?>
<Relationships xmlns="http://schemas.openxmlformats.org/package/2006/relationships"><Relationship Id="rId1" Type="http://schemas.microsoft.com/office/2011/relationships/chartStyle" Target="style20.xml"/><Relationship Id="rId2" Type="http://schemas.microsoft.com/office/2011/relationships/chartColorStyle" Target="colors20.xml"/><Relationship Id="rId3" Type="http://schemas.openxmlformats.org/officeDocument/2006/relationships/package" Target="../embeddings/Microsoft_Excel_Worksheet19.xlsx"/></Relationships>
</file>

<file path=ppt/charts/_rels/chart21.xml.rels><?xml version='1.0' encoding='UTF-8' standalone='yes'?>
<Relationships xmlns="http://schemas.openxmlformats.org/package/2006/relationships"><Relationship Id="rId1" Type="http://schemas.microsoft.com/office/2011/relationships/chartStyle" Target="style21.xml"/><Relationship Id="rId2" Type="http://schemas.microsoft.com/office/2011/relationships/chartColorStyle" Target="colors21.xml"/><Relationship Id="rId3" Type="http://schemas.openxmlformats.org/officeDocument/2006/relationships/package" Target="../embeddings/Microsoft_Excel_Worksheet20.xlsx"/></Relationships>
</file>

<file path=ppt/charts/_rels/chart22.xml.rels><?xml version='1.0' encoding='UTF-8' standalone='yes'?>
<Relationships xmlns="http://schemas.openxmlformats.org/package/2006/relationships"><Relationship Id="rId1" Type="http://schemas.microsoft.com/office/2011/relationships/chartStyle" Target="style22.xml"/><Relationship Id="rId2" Type="http://schemas.microsoft.com/office/2011/relationships/chartColorStyle" Target="colors22.xml"/><Relationship Id="rId3" Type="http://schemas.openxmlformats.org/officeDocument/2006/relationships/package" Target="../embeddings/Microsoft_Excel_Worksheet21.xlsx"/></Relationships>
</file>

<file path=ppt/charts/_rels/chart23.xml.rels><?xml version='1.0' encoding='UTF-8' standalone='yes'?>
<Relationships xmlns="http://schemas.openxmlformats.org/package/2006/relationships"><Relationship Id="rId1" Type="http://schemas.microsoft.com/office/2011/relationships/chartStyle" Target="style23.xml"/><Relationship Id="rId2" Type="http://schemas.microsoft.com/office/2011/relationships/chartColorStyle" Target="colors23.xml"/><Relationship Id="rId3" Type="http://schemas.openxmlformats.org/officeDocument/2006/relationships/package" Target="../embeddings/Microsoft_Excel_Worksheet22.xlsx"/></Relationships>
</file>

<file path=ppt/charts/_rels/chart24.xml.rels><?xml version='1.0' encoding='UTF-8' standalone='yes'?>
<Relationships xmlns="http://schemas.openxmlformats.org/package/2006/relationships"><Relationship Id="rId1" Type="http://schemas.microsoft.com/office/2011/relationships/chartStyle" Target="style24.xml"/><Relationship Id="rId2" Type="http://schemas.microsoft.com/office/2011/relationships/chartColorStyle" Target="colors24.xml"/><Relationship Id="rId3" Type="http://schemas.openxmlformats.org/officeDocument/2006/relationships/package" Target="../embeddings/Microsoft_Excel_Worksheet23.xlsx"/></Relationships>
</file>

<file path=ppt/charts/_rels/chart25.xml.rels><?xml version='1.0' encoding='UTF-8' standalone='yes'?>
<Relationships xmlns="http://schemas.openxmlformats.org/package/2006/relationships"><Relationship Id="rId1" Type="http://schemas.microsoft.com/office/2011/relationships/chartStyle" Target="style25.xml"/><Relationship Id="rId2" Type="http://schemas.microsoft.com/office/2011/relationships/chartColorStyle" Target="colors25.xml"/><Relationship Id="rId3" Type="http://schemas.openxmlformats.org/officeDocument/2006/relationships/package" Target="../embeddings/Microsoft_Excel_Worksheet24.xlsx"/></Relationships>
</file>

<file path=ppt/charts/_rels/chart26.xml.rels><?xml version='1.0' encoding='UTF-8' standalone='yes'?>
<Relationships xmlns="http://schemas.openxmlformats.org/package/2006/relationships"><Relationship Id="rId1" Type="http://schemas.microsoft.com/office/2011/relationships/chartStyle" Target="style26.xml"/><Relationship Id="rId2" Type="http://schemas.microsoft.com/office/2011/relationships/chartColorStyle" Target="colors26.xml"/><Relationship Id="rId3" Type="http://schemas.openxmlformats.org/officeDocument/2006/relationships/package" Target="../embeddings/Microsoft_Excel_Worksheet25.xlsx"/></Relationships>
</file>

<file path=ppt/charts/_rels/chart27.xml.rels><?xml version='1.0' encoding='UTF-8' standalone='yes'?>
<Relationships xmlns="http://schemas.openxmlformats.org/package/2006/relationships"><Relationship Id="rId1" Type="http://schemas.microsoft.com/office/2011/relationships/chartStyle" Target="style27.xml"/><Relationship Id="rId2" Type="http://schemas.microsoft.com/office/2011/relationships/chartColorStyle" Target="colors27.xml"/><Relationship Id="rId3" Type="http://schemas.openxmlformats.org/officeDocument/2006/relationships/package" Target="../embeddings/Microsoft_Excel_Worksheet26.xlsx"/></Relationships>
</file>

<file path=ppt/charts/_rels/chart28.xml.rels><?xml version='1.0' encoding='UTF-8' standalone='yes'?>
<Relationships xmlns="http://schemas.openxmlformats.org/package/2006/relationships"><Relationship Id="rId1" Type="http://schemas.microsoft.com/office/2011/relationships/chartStyle" Target="style28.xml"/><Relationship Id="rId2" Type="http://schemas.microsoft.com/office/2011/relationships/chartColorStyle" Target="colors28.xml"/><Relationship Id="rId3" Type="http://schemas.openxmlformats.org/officeDocument/2006/relationships/package" Target="../embeddings/Microsoft_Excel_Worksheet27.xlsx"/></Relationships>
</file>

<file path=ppt/charts/_rels/chart29.xml.rels><?xml version='1.0' encoding='UTF-8' standalone='yes'?>
<Relationships xmlns="http://schemas.openxmlformats.org/package/2006/relationships"><Relationship Id="rId1" Type="http://schemas.microsoft.com/office/2011/relationships/chartStyle" Target="style29.xml"/><Relationship Id="rId2" Type="http://schemas.microsoft.com/office/2011/relationships/chartColorStyle" Target="colors29.xml"/><Relationship Id="rId3" Type="http://schemas.openxmlformats.org/officeDocument/2006/relationships/package" Target="../embeddings/Microsoft_Excel_Worksheet28.xlsx"/></Relationships>
</file>

<file path=ppt/charts/_rels/chart30.xml.rels><?xml version='1.0' encoding='UTF-8' standalone='yes'?>
<Relationships xmlns="http://schemas.openxmlformats.org/package/2006/relationships"><Relationship Id="rId1" Type="http://schemas.microsoft.com/office/2011/relationships/chartStyle" Target="style30.xml"/><Relationship Id="rId2" Type="http://schemas.microsoft.com/office/2011/relationships/chartColorStyle" Target="colors30.xml"/><Relationship Id="rId3" Type="http://schemas.openxmlformats.org/officeDocument/2006/relationships/package" Target="../embeddings/Microsoft_Excel_Worksheet2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7-4D62-B34F-9DD7CCE01C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1998837356687803"/>
          <c:y val="0"/>
          <c:w val="0.63397653437229329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95-4125-8871-E95E0909D5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523377656"/>
        <c:axId val="523377984"/>
      </c:barChart>
      <c:catAx>
        <c:axId val="52337765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 (본문)"/>
                <a:ea typeface="+mn-ea"/>
                <a:cs typeface="+mn-cs"/>
              </a:defRPr>
            </a:pPr>
            <a:endParaRPr lang="ko-KR"/>
          </a:p>
        </c:txPr>
        <c:crossAx val="523377984"/>
        <c:crosses val="autoZero"/>
        <c:auto val="1"/>
        <c:lblAlgn val="ctr"/>
        <c:lblOffset val="100"/>
        <c:noMultiLvlLbl val="0"/>
      </c:catAx>
      <c:valAx>
        <c:axId val="523377984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233776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2A2-97BE-F0E046439D9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0A3-4515-8C66-22D4236DA2F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DF-457A-84D5-8454459199F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593-4ECE-AD2F-483866FDA5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A67-49A3-AF22-88B2EF8A378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A5-495B-81AA-573DA357B46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EB-4160-893F-01EFB3A9D2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C9-4179-B9FB-8FB84A69393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A58-49C1-BE60-CC0D48FA76A7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A58-49C1-BE60-CC0D48FA76A7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A58-49C1-BE60-CC0D48FA76A7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A58-49C1-BE60-CC0D48FA76A7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A58-49C1-BE60-CC0D48FA76A7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A58-49C1-BE60-CC0D48FA76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1F7-4173-A70C-D9600623AB3B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1F7-4173-A70C-D9600623AB3B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1F7-4173-A70C-D9600623AB3B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1F7-4173-A70C-D9600623AB3B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1F7-4173-A70C-D9600623AB3B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1F7-4173-A70C-D9600623AB3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6AE-4923-AC8A-290D8B0CAE0A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6AE-4923-AC8A-290D8B0CAE0A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6AE-4923-AC8A-290D8B0CAE0A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6AE-4923-AC8A-290D8B0CAE0A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6AE-4923-AC8A-290D8B0CAE0A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AE-4923-AC8A-290D8B0CAE0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C0-452F-9413-1653260D61E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0B-4AC2-8F89-3ECD34B0D75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255-4562-8ABD-A8CF3C6EB6A3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255-4562-8ABD-A8CF3C6EB6A3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clip" horzOverflow="clip" vert="horz" wrap="square" lIns="36576" tIns="18288" rIns="36576" bIns="18288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 (본문)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255-4562-8ABD-A8CF3C6EB6A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 (본문)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b="1">
          <a:latin typeface="맑은 고딕 (본문)"/>
        </a:defRPr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</c:spPr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46A-4655-9ADE-72FCF3C2A60C}"/>
              </c:ext>
            </c:extLst>
          </c:dPt>
          <c:dPt>
            <c:idx val="1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46A-4655-9ADE-72FCF3C2A60C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46A-4655-9ADE-72FCF3C2A60C}"/>
              </c:ext>
            </c:extLst>
          </c:dPt>
          <c:dPt>
            <c:idx val="3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46A-4655-9ADE-72FCF3C2A60C}"/>
              </c:ext>
            </c:extLst>
          </c:dPt>
          <c:dPt>
            <c:idx val="4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46A-4655-9ADE-72FCF3C2A60C}"/>
              </c:ext>
            </c:extLst>
          </c:dPt>
          <c:dPt>
            <c:idx val="5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46A-4655-9ADE-72FCF3C2A60C}"/>
              </c:ext>
            </c:extLst>
          </c:dPt>
          <c:dLbls>
            <c:numFmt formatCode="General&quot;ea&quot;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eparator>
</c:separator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46A-4655-9ADE-72FCF3C2A60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6-42E6-A4F3-796C6A0971A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A5-4F2F-9E6D-53CD8C9EDF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78-43B5-AFDE-F49D001326E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AB-4B1B-8B62-7FBB18B9C9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0E-4423-B44C-6EAEE00A10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EC-4D3C-87AA-54B73373EC9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6D-4BFE-A5BB-FB6F8D2B937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22-470C-9D0A-482BEF41422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D3-46F4-8081-5364BAF7BF1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90-4A3A-83FF-01BE6684C56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22-4A5B-9CD6-424A3CDD07D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409014404284365"/>
          <c:y val="6.3373984037165765E-2"/>
          <c:w val="0.72742940556729407"/>
          <c:h val="0.706662806781028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overflow" horzOverflow="overflow" vert="horz" wrap="square" lIns="38100" tIns="19050" rIns="38100" bIns="19050" anchor="ctr" anchorCtr="1">
                <a:normAutofit/>
              </a:bodyPr>
              <a:lstStyle/>
              <a:p>
                <a:pPr>
                  <a:defRPr sz="8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  <a:noFill/>
                  <a:ln>
                    <a:noFill/>
                  </a:ln>
                </c15:spPr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데이터 없음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5A-486F-B552-C49FF61BACE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00"/>
        <c:overlap val="-20"/>
        <c:axId val="991211151"/>
        <c:axId val="649168591"/>
      </c:barChart>
      <c:catAx>
        <c:axId val="991211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649168591"/>
        <c:crosses val="autoZero"/>
        <c:auto val="1"/>
        <c:lblAlgn val="ctr"/>
        <c:lblOffset val="100"/>
        <c:noMultiLvlLbl val="0"/>
      </c:catAx>
      <c:valAx>
        <c:axId val="649168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991211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87151954961013789"/>
          <c:y val="0.34038031935677471"/>
          <c:w val="0.11334225909317258"/>
          <c:h val="0.4005791368305077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0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0C59DB6-2077-4F46-91AC-FEFA710676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AE301A-6B9D-4C7B-A0E0-DD6EC04A2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D729CC-739D-48CF-9DF0-199CF6E81813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35DDF48-55B9-49C0-8A49-9A3404BB8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AE2C566-98FC-462C-9C43-CDDB563EFBE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45F38A-2638-4FF7-9014-D0D691430C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0202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30E4E3-854B-49C5-BFF3-F24F87DE5D79}" type="datetimeFigureOut">
              <a:rPr lang="ko-KR" altLang="en-US" smtClean="0"/>
              <a:t>2026-07-22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8F885-8A54-4C4D-BA4F-6F57EF25B3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943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hyperlink" Target="https://support.megazone.com/" TargetMode="Externa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579FF89-D1B2-41CC-A2F1-AFC425F252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55688" y="2726575"/>
            <a:ext cx="8597359" cy="6982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대상정보기술</a:t>
            </a:r>
          </a:p>
        </p:txBody>
      </p:sp>
      <p:pic>
        <p:nvPicPr>
          <p:cNvPr id="4" name="MZC_Mark">
            <a:extLst>
              <a:ext uri="{FF2B5EF4-FFF2-40B4-BE49-F238E27FC236}">
                <a16:creationId xmlns:a16="http://schemas.microsoft.com/office/drawing/2014/main" id="{70891C11-E96A-4321-83F6-63C245BA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B80828-B737-4B33-8D72-D8EA5902FABE}"/>
              </a:ext>
            </a:extLst>
          </p:cNvPr>
          <p:cNvSpPr txBox="1"/>
          <p:nvPr userDrawn="1"/>
        </p:nvSpPr>
        <p:spPr>
          <a:xfrm>
            <a:off x="1049415" y="2276724"/>
            <a:ext cx="374908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</a:rPr>
              <a:t>GCP Infrastructure</a:t>
            </a:r>
            <a:endParaRPr lang="ko-KR" alt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제목 2">
            <a:extLst>
              <a:ext uri="{FF2B5EF4-FFF2-40B4-BE49-F238E27FC236}">
                <a16:creationId xmlns:a16="http://schemas.microsoft.com/office/drawing/2014/main" id="{AF131BA4-CC13-4B62-A3B7-D57BD2BB3A45}"/>
              </a:ext>
            </a:extLst>
          </p:cNvPr>
          <p:cNvSpPr txBox="1">
            <a:spLocks/>
          </p:cNvSpPr>
          <p:nvPr userDrawn="1"/>
        </p:nvSpPr>
        <p:spPr>
          <a:xfrm>
            <a:off x="2378154" y="3433153"/>
            <a:ext cx="1765828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ko-KR" altLang="en-US" dirty="0"/>
              <a:t>보고서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88A119F-D29D-4BA9-B96B-23F55F5546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55688" y="3433153"/>
            <a:ext cx="1328738" cy="6847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4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월간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94AC35-00A2-4EDA-9634-E775BFFFE58F}"/>
              </a:ext>
            </a:extLst>
          </p:cNvPr>
          <p:cNvSpPr txBox="1"/>
          <p:nvPr userDrawn="1"/>
        </p:nvSpPr>
        <p:spPr>
          <a:xfrm>
            <a:off x="1049416" y="4352981"/>
            <a:ext cx="3094566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By</a:t>
            </a:r>
            <a:r>
              <a:rPr lang="ko-KR" altLang="en-US" sz="2400" b="0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ko-KR" sz="2400" b="0" dirty="0" err="1">
                <a:solidFill>
                  <a:schemeClr val="bg1"/>
                </a:solidFill>
                <a:latin typeface="+mn-ea"/>
                <a:ea typeface="+mn-ea"/>
              </a:rPr>
              <a:t>MegazoneCloud</a:t>
            </a:r>
            <a:r>
              <a:rPr lang="en-US" altLang="ko-KR" sz="2400" b="0" dirty="0">
                <a:solidFill>
                  <a:schemeClr val="bg1"/>
                </a:solidFill>
                <a:latin typeface="+mn-ea"/>
                <a:ea typeface="+mn-ea"/>
              </a:rPr>
              <a:t> |</a:t>
            </a:r>
            <a:endParaRPr lang="ko-KR" altLang="en-US" sz="2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626820-FB5D-495A-ADAA-683DCA763E7F}"/>
              </a:ext>
            </a:extLst>
          </p:cNvPr>
          <p:cNvCxnSpPr>
            <a:cxnSpLocks/>
          </p:cNvCxnSpPr>
          <p:nvPr userDrawn="1"/>
        </p:nvCxnSpPr>
        <p:spPr>
          <a:xfrm>
            <a:off x="1049416" y="4352982"/>
            <a:ext cx="7506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515644E2-547B-4027-8371-A55037A0E8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6497" y="4352981"/>
            <a:ext cx="2905465" cy="4659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ko-KR" dirty="0"/>
              <a:t>’21</a:t>
            </a:r>
            <a:r>
              <a:rPr lang="ko-KR" altLang="en-US" dirty="0"/>
              <a:t>년 </a:t>
            </a:r>
            <a:r>
              <a:rPr lang="en-US" altLang="ko-KR" dirty="0"/>
              <a:t>5</a:t>
            </a:r>
            <a:r>
              <a:rPr lang="ko-KR" altLang="en-US" dirty="0"/>
              <a:t>월</a:t>
            </a:r>
          </a:p>
        </p:txBody>
      </p:sp>
    </p:spTree>
    <p:extLst>
      <p:ext uri="{BB962C8B-B14F-4D97-AF65-F5344CB8AC3E}">
        <p14:creationId xmlns:p14="http://schemas.microsoft.com/office/powerpoint/2010/main" val="133205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665" userDrawn="1">
          <p15:clr>
            <a:srgbClr val="FBAE40"/>
          </p15:clr>
        </p15:guide>
        <p15:guide id="4" pos="7015" userDrawn="1">
          <p15:clr>
            <a:srgbClr val="FBAE40"/>
          </p15:clr>
        </p15:guide>
        <p15:guide id="5" orient="horz" pos="306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alphaModFix amt="69000"/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0D9C7E8-9E6D-4EC6-B8B3-58FFA7C5C0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7638" y="1521072"/>
            <a:ext cx="5028362" cy="4917124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spcBef>
                <a:spcPts val="1500"/>
              </a:spcBef>
              <a:buFont typeface="Wingdings" panose="05000000000000000000" pitchFamily="2" charset="2"/>
              <a:buChar char="§"/>
              <a:defRPr sz="2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485B1FD-C78C-4C21-8022-23909AB8520E}"/>
              </a:ext>
            </a:extLst>
          </p:cNvPr>
          <p:cNvCxnSpPr>
            <a:cxnSpLocks/>
          </p:cNvCxnSpPr>
          <p:nvPr userDrawn="1"/>
        </p:nvCxnSpPr>
        <p:spPr>
          <a:xfrm>
            <a:off x="1067638" y="1325882"/>
            <a:ext cx="5028362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2">
            <a:extLst>
              <a:ext uri="{FF2B5EF4-FFF2-40B4-BE49-F238E27FC236}">
                <a16:creationId xmlns:a16="http://schemas.microsoft.com/office/drawing/2014/main" id="{307A8BC4-C972-4B3B-BE57-BF2B8B47D4B6}"/>
              </a:ext>
            </a:extLst>
          </p:cNvPr>
          <p:cNvSpPr txBox="1">
            <a:spLocks/>
          </p:cNvSpPr>
          <p:nvPr userDrawn="1"/>
        </p:nvSpPr>
        <p:spPr>
          <a:xfrm>
            <a:off x="1067638" y="552799"/>
            <a:ext cx="2077469" cy="69826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dirty="0">
                <a:latin typeface="+mj-ea"/>
                <a:ea typeface="+mj-ea"/>
              </a:rPr>
              <a:t>Agenda</a:t>
            </a:r>
            <a:endParaRPr lang="ko-KR" altLang="en-US" dirty="0">
              <a:latin typeface="+mj-ea"/>
              <a:ea typeface="+mj-ea"/>
            </a:endParaRPr>
          </a:p>
        </p:txBody>
      </p:sp>
      <p:pic>
        <p:nvPicPr>
          <p:cNvPr id="13" name="MZC_Mark">
            <a:extLst>
              <a:ext uri="{FF2B5EF4-FFF2-40B4-BE49-F238E27FC236}">
                <a16:creationId xmlns:a16="http://schemas.microsoft.com/office/drawing/2014/main" id="{66058903-72CA-48D9-BA02-852ACF1768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237" t="-1" b="-17834"/>
          <a:stretch/>
        </p:blipFill>
        <p:spPr>
          <a:xfrm>
            <a:off x="10360089" y="6197600"/>
            <a:ext cx="1495455" cy="49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1673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운영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9FBD79-D6EE-458F-ACE1-AF96B07E5909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서비스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3D02B7-06FD-4AD5-A264-62A27C94E324}"/>
              </a:ext>
            </a:extLst>
          </p:cNvPr>
          <p:cNvSpPr txBox="1"/>
          <p:nvPr userDrawn="1"/>
        </p:nvSpPr>
        <p:spPr>
          <a:xfrm>
            <a:off x="1076374" y="1575961"/>
            <a:ext cx="2373835" cy="2531783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고객사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  <a:sym typeface="Wingdings" panose="05000000000000000000" pitchFamily="2" charset="2"/>
              </a:rPr>
              <a:t> 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발행 주기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marR="0" lvl="0" indent="0" algn="r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등급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영업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MSP </a:t>
            </a: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기술 지원 담당자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</a:p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ko-KR" altLang="en-US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보고서 기간 </a:t>
            </a: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|</a:t>
            </a:r>
            <a:endParaRPr lang="ko-KR" altLang="en-US" sz="18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customer_name">
            <a:extLst>
              <a:ext uri="{FF2B5EF4-FFF2-40B4-BE49-F238E27FC236}">
                <a16:creationId xmlns:a16="http://schemas.microsoft.com/office/drawing/2014/main" id="{F1D3EFA6-05D4-4210-9F8E-64CA66AA54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55942" y="1719703"/>
            <a:ext cx="8357692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고객사</a:t>
            </a:r>
          </a:p>
        </p:txBody>
      </p:sp>
      <p:sp>
        <p:nvSpPr>
          <p:cNvPr id="20" name="report_cycle">
            <a:extLst>
              <a:ext uri="{FF2B5EF4-FFF2-40B4-BE49-F238E27FC236}">
                <a16:creationId xmlns:a16="http://schemas.microsoft.com/office/drawing/2014/main" id="{EEB37E58-BE5C-4CDF-A345-F498504891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55941" y="2130716"/>
            <a:ext cx="8357691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발행 주기</a:t>
            </a:r>
          </a:p>
        </p:txBody>
      </p:sp>
      <p:sp>
        <p:nvSpPr>
          <p:cNvPr id="21" name="msp_level">
            <a:extLst>
              <a:ext uri="{FF2B5EF4-FFF2-40B4-BE49-F238E27FC236}">
                <a16:creationId xmlns:a16="http://schemas.microsoft.com/office/drawing/2014/main" id="{714C7331-6D1A-4AD0-A240-74522125729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55942" y="2541729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등급</a:t>
            </a:r>
          </a:p>
        </p:txBody>
      </p:sp>
      <p:sp>
        <p:nvSpPr>
          <p:cNvPr id="22" name="msp_sales">
            <a:extLst>
              <a:ext uri="{FF2B5EF4-FFF2-40B4-BE49-F238E27FC236}">
                <a16:creationId xmlns:a16="http://schemas.microsoft.com/office/drawing/2014/main" id="{9530BAA1-DAF5-4885-AFA4-5E9EC1BA20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55942" y="2952742"/>
            <a:ext cx="8357690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영업 담당자</a:t>
            </a:r>
          </a:p>
        </p:txBody>
      </p:sp>
      <p:sp>
        <p:nvSpPr>
          <p:cNvPr id="23" name="manager_name">
            <a:extLst>
              <a:ext uri="{FF2B5EF4-FFF2-40B4-BE49-F238E27FC236}">
                <a16:creationId xmlns:a16="http://schemas.microsoft.com/office/drawing/2014/main" id="{4B6A51FE-73F6-48B4-896C-F6A8EAA674E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5941" y="3363755"/>
            <a:ext cx="8357689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MSP </a:t>
            </a:r>
            <a:r>
              <a:rPr lang="ko-KR" altLang="en-US" dirty="0"/>
              <a:t>기술 지원 담당자</a:t>
            </a:r>
          </a:p>
        </p:txBody>
      </p:sp>
      <p:sp>
        <p:nvSpPr>
          <p:cNvPr id="17" name="report_date">
            <a:extLst>
              <a:ext uri="{FF2B5EF4-FFF2-40B4-BE49-F238E27FC236}">
                <a16:creationId xmlns:a16="http://schemas.microsoft.com/office/drawing/2014/main" id="{5CCB0E79-2731-4590-8718-508459DBFD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55942" y="3774767"/>
            <a:ext cx="8357688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보고서 기간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CCC71-F4B6-48C2-B882-8E407F2834BB}"/>
              </a:ext>
            </a:extLst>
          </p:cNvPr>
          <p:cNvSpPr txBox="1"/>
          <p:nvPr userDrawn="1"/>
        </p:nvSpPr>
        <p:spPr>
          <a:xfrm>
            <a:off x="482139" y="4717227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Project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정보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38B38F-A420-4098-94B1-5BDA69CF5520}"/>
              </a:ext>
            </a:extLst>
          </p:cNvPr>
          <p:cNvSpPr txBox="1"/>
          <p:nvPr userDrawn="1"/>
        </p:nvSpPr>
        <p:spPr>
          <a:xfrm>
            <a:off x="1076374" y="5132725"/>
            <a:ext cx="2373835" cy="45429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indent="0" algn="r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ko-KR" sz="18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Project ID |</a:t>
            </a:r>
          </a:p>
        </p:txBody>
      </p:sp>
      <p:sp>
        <p:nvSpPr>
          <p:cNvPr id="26" name="account_id">
            <a:extLst>
              <a:ext uri="{FF2B5EF4-FFF2-40B4-BE49-F238E27FC236}">
                <a16:creationId xmlns:a16="http://schemas.microsoft.com/office/drawing/2014/main" id="{5A65F97B-4909-49C0-9567-83338062DD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55941" y="5282039"/>
            <a:ext cx="8357687" cy="27175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spc="-15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 altLang="ko-KR" dirty="0"/>
              <a:t>Project ID</a:t>
            </a:r>
            <a:endParaRPr lang="ko-KR" altLang="en-US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7EF165C7-A883-47F7-9CC4-3E68E42905D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61E6BEFC-03D2-46AD-8B6F-D8CD675B02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9" name="No_changed">
            <a:extLst>
              <a:ext uri="{FF2B5EF4-FFF2-40B4-BE49-F238E27FC236}">
                <a16:creationId xmlns:a16="http://schemas.microsoft.com/office/drawing/2014/main" id="{87A2B150-C275-42B1-8974-9AD1A06B4DB6}"/>
              </a:ext>
            </a:extLst>
          </p:cNvPr>
          <p:cNvSpPr txBox="1"/>
          <p:nvPr userDrawn="1"/>
        </p:nvSpPr>
        <p:spPr>
          <a:xfrm>
            <a:off x="5286895" y="1332087"/>
            <a:ext cx="628121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해당 보고서는 월 말일의 데이터를 기준으로 작성하였습니다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6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계정 삭제 및 서비스 계정 키 교체를 정기적으로 진행하실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공용 계정이 아닌 개인 계정을 사용하실 것을 </a:t>
            </a:r>
            <a:r>
              <a:rPr lang="ko-KR" altLang="en-US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권고드립니다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5445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상태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459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rgbClr val="0A2342"/>
                </a:solidFill>
              </a:rPr>
              <a:t>IAM</a:t>
            </a:r>
            <a:r>
              <a:rPr lang="ko-KR" altLang="en-US" spc="-150" dirty="0">
                <a:solidFill>
                  <a:srgbClr val="0A2342"/>
                </a:solidFill>
              </a:rPr>
              <a:t>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사용 여부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서비스 계정 키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90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일 초과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046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액세스 유형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고정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 IP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주소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(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외부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) -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위치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0996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ad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 </a:t>
            </a:r>
            <a:r>
              <a:rPr lang="en-US" altLang="ko-KR" spc="-150" dirty="0">
                <a:solidFill>
                  <a:srgbClr val="0A2342"/>
                </a:solidFill>
              </a:rPr>
              <a:t>– VPC </a:t>
            </a:r>
            <a:r>
              <a:rPr lang="ko-KR" altLang="en-US" spc="-150" dirty="0">
                <a:solidFill>
                  <a:srgbClr val="0A2342"/>
                </a:solidFill>
              </a:rPr>
              <a:t>네트워크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6252036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인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아웃</a:t>
            </a:r>
            <a:r>
              <a:rPr lang="en-US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ko-KR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바운드 정책 현황</a:t>
            </a:r>
            <a:endParaRPr lang="ko-KR" altLang="ko-KR" sz="18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56DCD9-3009-4BEE-AC98-5F8380775B35}"/>
              </a:ext>
            </a:extLst>
          </p:cNvPr>
          <p:cNvSpPr txBox="1"/>
          <p:nvPr userDrawn="1"/>
        </p:nvSpPr>
        <p:spPr>
          <a:xfrm>
            <a:off x="482139" y="3221251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VPC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방화벽 규칙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</a:rPr>
              <a:t>로그 사용 여부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E8EAF963-C7B0-4543-AABF-71A3D4C2CE7C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FDE7BD7A-F0A0-4FD6-800A-511BF7F177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0" name="No_changed">
            <a:extLst>
              <a:ext uri="{FF2B5EF4-FFF2-40B4-BE49-F238E27FC236}">
                <a16:creationId xmlns:a16="http://schemas.microsoft.com/office/drawing/2014/main" id="{DA906618-B1CD-46F7-A897-29C0F94DAD9B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미사용 계정 삭제 및 서비스 계정 키 교체를 정기적으로 진행하실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</a:p>
          <a:p>
            <a:pPr marL="228600" indent="-228600" algn="l">
              <a:buAutoNum type="arabicParenR"/>
            </a:pP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공용 계정이 아닌 개인 계정을 사용하실 것을 </a:t>
            </a:r>
            <a:r>
              <a:rPr lang="ko-KR" altLang="en-US" sz="1000" b="1" kern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권고드립니다</a:t>
            </a:r>
            <a:r>
              <a:rPr lang="en-US" altLang="ko-KR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.</a:t>
            </a:r>
            <a:endParaRPr lang="en-US" altLang="ko-KR" sz="1000" b="0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6559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5102231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Compute Engine (VM)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" name="No_changed">
            <a:extLst>
              <a:ext uri="{FF2B5EF4-FFF2-40B4-BE49-F238E27FC236}">
                <a16:creationId xmlns:a16="http://schemas.microsoft.com/office/drawing/2014/main" id="{C3DCEAF3-3B3B-4BA4-8BE1-0EDA87FCEC17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사용 합계 현황</a:t>
            </a:r>
          </a:p>
        </p:txBody>
      </p:sp>
      <p:sp>
        <p:nvSpPr>
          <p:cNvPr id="7" name="No_changed">
            <a:extLst>
              <a:ext uri="{FF2B5EF4-FFF2-40B4-BE49-F238E27FC236}">
                <a16:creationId xmlns:a16="http://schemas.microsoft.com/office/drawing/2014/main" id="{1CCF4ABA-9BC3-4E58-8A3D-B8D4A7B7C474}"/>
              </a:ext>
            </a:extLst>
          </p:cNvPr>
          <p:cNvSpPr txBox="1"/>
          <p:nvPr userDrawn="1"/>
        </p:nvSpPr>
        <p:spPr>
          <a:xfrm>
            <a:off x="6223461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1741BB3-F802-4012-8ACC-4B3C31D6B8E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48AC346B-944A-424E-9EDE-DADC2BAD8D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No_changed">
            <a:extLst>
              <a:ext uri="{FF2B5EF4-FFF2-40B4-BE49-F238E27FC236}">
                <a16:creationId xmlns:a16="http://schemas.microsoft.com/office/drawing/2014/main" id="{B01316E0-8D1B-483C-B2ED-42BF0680B8AF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7AB1BACF-4154-4698-819A-E279E2212A31}"/>
              </a:ext>
            </a:extLst>
          </p:cNvPr>
          <p:cNvSpPr txBox="1"/>
          <p:nvPr userDrawn="1"/>
        </p:nvSpPr>
        <p:spPr>
          <a:xfrm>
            <a:off x="623888" y="3059668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지역 별 사용 추이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2CAB3019-DDD1-4C8B-9F93-B6B590B1335A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8E9C4439-DCA7-43C1-BBCD-C0B25F1C41C2}"/>
              </a:ext>
            </a:extLst>
          </p:cNvPr>
          <p:cNvSpPr txBox="1">
            <a:spLocks/>
          </p:cNvSpPr>
          <p:nvPr userDrawn="1"/>
        </p:nvSpPr>
        <p:spPr>
          <a:xfrm>
            <a:off x="686480" y="349326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8029BC55-F1E8-480A-AFE7-C10057E897A5}"/>
              </a:ext>
            </a:extLst>
          </p:cNvPr>
          <p:cNvSpPr txBox="1"/>
          <p:nvPr userDrawn="1"/>
        </p:nvSpPr>
        <p:spPr>
          <a:xfrm>
            <a:off x="2631498" y="3244334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24928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49">
          <p15:clr>
            <a:srgbClr val="C35EA4"/>
          </p15:clr>
        </p15:guide>
        <p15:guide id="2" pos="3931">
          <p15:clr>
            <a:srgbClr val="C35E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395765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– Storage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(Disk)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51630BE9-1B33-44D9-A062-120E71BEDABF}"/>
              </a:ext>
            </a:extLst>
          </p:cNvPr>
          <p:cNvSpPr txBox="1"/>
          <p:nvPr userDrawn="1"/>
        </p:nvSpPr>
        <p:spPr>
          <a:xfrm>
            <a:off x="6223460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</a:rPr>
              <a:t>GCP Disk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</a:rPr>
              <a:t>타입 별 사용 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6E386AAF-F2F5-4525-8EF7-CB068E551604}"/>
              </a:ext>
            </a:extLst>
          </p:cNvPr>
          <p:cNvSpPr txBox="1">
            <a:spLocks/>
          </p:cNvSpPr>
          <p:nvPr userDrawn="1"/>
        </p:nvSpPr>
        <p:spPr>
          <a:xfrm>
            <a:off x="6266398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6" name="No_changed">
            <a:extLst>
              <a:ext uri="{FF2B5EF4-FFF2-40B4-BE49-F238E27FC236}">
                <a16:creationId xmlns:a16="http://schemas.microsoft.com/office/drawing/2014/main" id="{C6472055-1853-40AF-BBCC-31078225DFC3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</a:rPr>
              <a:t>Disk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</a:rPr>
              <a:t>서비스 및 백업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D7BB3E29-3720-445B-9C14-6B036D2A3181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983E729F-B6C8-49F4-941B-6983518B79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A6E3CEF7-E7FB-4623-8115-09FAE4A86CD2}"/>
              </a:ext>
            </a:extLst>
          </p:cNvPr>
          <p:cNvSpPr txBox="1"/>
          <p:nvPr userDrawn="1"/>
        </p:nvSpPr>
        <p:spPr>
          <a:xfrm>
            <a:off x="623887" y="6220031"/>
            <a:ext cx="955035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Snapshot &amp; Image: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디스크 및 인스턴스에 대한 백업을 의미합니다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(90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일이 초과된 스냅샷은 삭제를 권고합니다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.)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Idle Disk(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미사용 디스크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):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전체 디스크 중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VM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연결되지 않은 상태의 디스크입니다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지속적인 비용 과금을 막기 위해 삭제 혹은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Cloud Storage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권장합니다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55E14C18-37BC-4104-A1F4-21D792B506BC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600000000000000" pitchFamily="34" charset="-127"/>
                <a:cs typeface="Arial" panose="020B0604020202020204" pitchFamily="34" charset="0"/>
              </a:rPr>
              <a:t>매월 말일 데이터 기준</a:t>
            </a:r>
            <a:endParaRPr lang="en-US" altLang="ko-KR" sz="1000" b="1" kern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맑은 고딕" panose="020B0600000000000000" pitchFamily="34" charset="-127"/>
              <a:cs typeface="Arial" panose="020B0604020202020204" pitchFamily="34" charset="0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207939F8-9546-49AD-9DD1-1820B965E0EF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D0E3333D-893C-4CBC-685A-E7A65513F7AE}"/>
              </a:ext>
            </a:extLst>
          </p:cNvPr>
          <p:cNvSpPr txBox="1">
            <a:spLocks/>
          </p:cNvSpPr>
          <p:nvPr userDrawn="1"/>
        </p:nvSpPr>
        <p:spPr>
          <a:xfrm>
            <a:off x="623887" y="2010982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2986675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en-US" altLang="ko-KR" sz="2100" b="1" spc="-150" dirty="0" err="1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Loadbalancer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1E91E68D-BB94-45A5-B428-D2BD59F5BB5D}"/>
              </a:ext>
            </a:extLst>
          </p:cNvPr>
          <p:cNvSpPr txBox="1"/>
          <p:nvPr userDrawn="1"/>
        </p:nvSpPr>
        <p:spPr>
          <a:xfrm>
            <a:off x="623888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서비스 별 사용 현황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4" name="No_changed">
            <a:extLst>
              <a:ext uri="{FF2B5EF4-FFF2-40B4-BE49-F238E27FC236}">
                <a16:creationId xmlns:a16="http://schemas.microsoft.com/office/drawing/2014/main" id="{43C57BA0-C886-4752-AEA5-14BF0AE3B3B1}"/>
              </a:ext>
            </a:extLst>
          </p:cNvPr>
          <p:cNvSpPr txBox="1"/>
          <p:nvPr userDrawn="1"/>
        </p:nvSpPr>
        <p:spPr>
          <a:xfrm>
            <a:off x="6223462" y="1575961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지역 별 사용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현황</a:t>
            </a:r>
          </a:p>
        </p:txBody>
      </p:sp>
      <p:sp>
        <p:nvSpPr>
          <p:cNvPr id="15" name="No_changed">
            <a:extLst>
              <a:ext uri="{FF2B5EF4-FFF2-40B4-BE49-F238E27FC236}">
                <a16:creationId xmlns:a16="http://schemas.microsoft.com/office/drawing/2014/main" id="{D28FE285-9C2E-46F2-8AFC-BB3E6552FA5A}"/>
              </a:ext>
            </a:extLst>
          </p:cNvPr>
          <p:cNvSpPr txBox="1"/>
          <p:nvPr userDrawn="1"/>
        </p:nvSpPr>
        <p:spPr>
          <a:xfrm>
            <a:off x="6223462" y="4786667"/>
            <a:ext cx="5344650" cy="369332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분산기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액세스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1" name="No_changed">
            <a:extLst>
              <a:ext uri="{FF2B5EF4-FFF2-40B4-BE49-F238E27FC236}">
                <a16:creationId xmlns:a16="http://schemas.microsoft.com/office/drawing/2014/main" id="{0F255477-F6AB-42EC-B9FF-1CA387B41ACA}"/>
              </a:ext>
            </a:extLst>
          </p:cNvPr>
          <p:cNvSpPr txBox="1">
            <a:spLocks/>
          </p:cNvSpPr>
          <p:nvPr userDrawn="1"/>
        </p:nvSpPr>
        <p:spPr>
          <a:xfrm>
            <a:off x="711298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  <p:sp>
        <p:nvSpPr>
          <p:cNvPr id="17" name="No_changed">
            <a:extLst>
              <a:ext uri="{FF2B5EF4-FFF2-40B4-BE49-F238E27FC236}">
                <a16:creationId xmlns:a16="http://schemas.microsoft.com/office/drawing/2014/main" id="{0C1F979B-03EE-4B88-8F01-AABD4E4247FC}"/>
              </a:ext>
            </a:extLst>
          </p:cNvPr>
          <p:cNvSpPr txBox="1"/>
          <p:nvPr userDrawn="1"/>
        </p:nvSpPr>
        <p:spPr>
          <a:xfrm>
            <a:off x="8248071" y="1757975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4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" name="No_changed">
            <a:extLst>
              <a:ext uri="{FF2B5EF4-FFF2-40B4-BE49-F238E27FC236}">
                <a16:creationId xmlns:a16="http://schemas.microsoft.com/office/drawing/2014/main" id="{FF829B69-682C-4FF7-8FEC-984048C8E120}"/>
              </a:ext>
            </a:extLst>
          </p:cNvPr>
          <p:cNvSpPr txBox="1"/>
          <p:nvPr userDrawn="1"/>
        </p:nvSpPr>
        <p:spPr>
          <a:xfrm>
            <a:off x="2476492" y="1757975"/>
            <a:ext cx="349204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매월 말일 데이터 기준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508EB185-7140-4D31-E183-0BCC0B705946}"/>
              </a:ext>
            </a:extLst>
          </p:cNvPr>
          <p:cNvSpPr txBox="1">
            <a:spLocks/>
          </p:cNvSpPr>
          <p:nvPr userDrawn="1"/>
        </p:nvSpPr>
        <p:spPr>
          <a:xfrm>
            <a:off x="6301112" y="2019371"/>
            <a:ext cx="888546" cy="213744"/>
          </a:xfrm>
          <a:prstGeom prst="rect">
            <a:avLst/>
          </a:prstGeom>
          <a:ln>
            <a:solidFill>
              <a:schemeClr val="bg2">
                <a:lumMod val="25000"/>
              </a:schemeClr>
            </a:solidFill>
          </a:ln>
        </p:spPr>
        <p:txBody>
          <a:bodyPr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404040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b="1" dirty="0">
                <a:latin typeface="+mn-ea"/>
                <a:ea typeface="+mn-ea"/>
              </a:rPr>
              <a:t>* </a:t>
            </a:r>
            <a:r>
              <a:rPr lang="ko-KR" altLang="en-US" sz="1050" b="1" dirty="0">
                <a:latin typeface="+mn-ea"/>
                <a:ea typeface="+mn-ea"/>
              </a:rPr>
              <a:t>당월 기준</a:t>
            </a:r>
          </a:p>
        </p:txBody>
      </p:sp>
    </p:spTree>
    <p:extLst>
      <p:ext uri="{BB962C8B-B14F-4D97-AF65-F5344CB8AC3E}">
        <p14:creationId xmlns:p14="http://schemas.microsoft.com/office/powerpoint/2010/main" val="4168826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인증서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D425E2-715D-88BC-9B68-6B93BD31D7F2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부하 분산 구성 요소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인증서 만료 여부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6253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9ABC103-5CDC-E99A-1B7D-4670FF76D950}"/>
              </a:ext>
            </a:extLst>
          </p:cNvPr>
          <p:cNvSpPr txBox="1"/>
          <p:nvPr userDrawn="1"/>
        </p:nvSpPr>
        <p:spPr>
          <a:xfrm>
            <a:off x="532720" y="158474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 </a:t>
            </a: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위치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345B3A60-1FDD-9DBF-41AC-3B3876854E35}"/>
              </a:ext>
            </a:extLst>
          </p:cNvPr>
          <p:cNvSpPr txBox="1"/>
          <p:nvPr userDrawn="1"/>
        </p:nvSpPr>
        <p:spPr>
          <a:xfrm>
            <a:off x="2533070" y="18089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12 Type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초과 시 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Other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로 표기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5247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객체 수명 주기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수명 주기 규칙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Storage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버킷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권한</a:t>
            </a: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)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공개 액세스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057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유형</a:t>
            </a: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상태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0755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82F17DBC-9F23-B59C-572B-8F10BE53AA9F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Gateway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483900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VPN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92511D3-F7D8-4479-A10B-DF62B6E48FCA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AD2D8DF1-5C50-4F09-A651-E6D5E0F29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924837D-57AE-A63A-4CC9-F4C34CE92655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VPN Tunnel -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7130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- </a:t>
            </a:r>
            <a:r>
              <a:rPr lang="ko-KR" altLang="en-US" sz="1800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리전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 err="1">
                <a:solidFill>
                  <a:schemeClr val="bg2">
                    <a:lumMod val="25000"/>
                  </a:schemeClr>
                </a:solidFill>
                <a:latin typeface="+mn-ea"/>
              </a:rPr>
              <a:t>인스터스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5659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머신 유형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DB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엔진 및 버전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44360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40" y="1160463"/>
            <a:ext cx="5170515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– Cloud SQL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64964016-6E8F-43DD-9498-D80955CC979E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9D2579CA-A999-4198-B70C-E89BBD734E8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EC11FD7-6394-AF72-4E6B-D7D1BB9E43D0}"/>
              </a:ext>
            </a:extLst>
          </p:cNvPr>
          <p:cNvSpPr txBox="1"/>
          <p:nvPr userDrawn="1"/>
        </p:nvSpPr>
        <p:spPr>
          <a:xfrm>
            <a:off x="535515" y="384352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z="1800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영역 가용성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79B8F-D303-AB53-1AAE-C44E54589090}"/>
              </a:ext>
            </a:extLst>
          </p:cNvPr>
          <p:cNvSpPr txBox="1"/>
          <p:nvPr userDrawn="1"/>
        </p:nvSpPr>
        <p:spPr>
          <a:xfrm>
            <a:off x="535515" y="1581405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388" indent="-179388"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SQL – </a:t>
            </a:r>
            <a:r>
              <a:rPr lang="ko-KR" altLang="en-US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스토리지 유형</a:t>
            </a:r>
            <a:endParaRPr lang="ko-KR" altLang="en-US" sz="1800" spc="-15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261821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t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자원 현황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04F453-E5EC-4CE7-B47A-6A8C288D6323}"/>
              </a:ext>
            </a:extLst>
          </p:cNvPr>
          <p:cNvSpPr txBox="1"/>
          <p:nvPr userDrawn="1"/>
        </p:nvSpPr>
        <p:spPr>
          <a:xfrm>
            <a:off x="482139" y="1160463"/>
            <a:ext cx="3219423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자원 현황 </a:t>
            </a:r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- Others 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83E49F-1D9C-49FB-9FF5-346200A78D04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88D4DF96-D34A-431A-A7D0-BFE4F8EC63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8" name="No_changed">
            <a:extLst>
              <a:ext uri="{FF2B5EF4-FFF2-40B4-BE49-F238E27FC236}">
                <a16:creationId xmlns:a16="http://schemas.microsoft.com/office/drawing/2014/main" id="{4A5EB1F6-6C3A-445B-8365-EE3EDD9124CC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매월 말일 데이터 기준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53284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4" name="No_changed">
            <a:extLst>
              <a:ext uri="{FF2B5EF4-FFF2-40B4-BE49-F238E27FC236}">
                <a16:creationId xmlns:a16="http://schemas.microsoft.com/office/drawing/2014/main" id="{0AA291D1-CEB3-46DB-97AF-59DA7401B5E7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</a:rPr>
              <a:t>&gt; Summary</a:t>
            </a:r>
            <a:endParaRPr lang="ko-KR" altLang="en-US" sz="2100" b="1" spc="-15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8235690-630E-4141-BC80-08B4A5F7D13D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7201282A-E8DF-4C1F-A6C5-F04C27E47E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2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ork_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업무 현황</a:t>
            </a:r>
          </a:p>
        </p:txBody>
      </p:sp>
      <p:sp>
        <p:nvSpPr>
          <p:cNvPr id="3" name="No_changed">
            <a:extLst>
              <a:ext uri="{FF2B5EF4-FFF2-40B4-BE49-F238E27FC236}">
                <a16:creationId xmlns:a16="http://schemas.microsoft.com/office/drawing/2014/main" id="{B4DF47E5-EFF3-4F3F-A109-3A057172B3F8}"/>
              </a:ext>
            </a:extLst>
          </p:cNvPr>
          <p:cNvSpPr txBox="1"/>
          <p:nvPr userDrawn="1"/>
        </p:nvSpPr>
        <p:spPr>
          <a:xfrm>
            <a:off x="482139" y="1160463"/>
            <a:ext cx="5344650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업무 지원 현황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855250-E412-4EEE-B8B2-69CEF79EB3F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C7B6C5F6-AD9F-46AD-8503-FCE3AC9A9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A51A257-BEF5-4638-B6F9-9839329FFDAD}"/>
              </a:ext>
            </a:extLst>
          </p:cNvPr>
          <p:cNvSpPr txBox="1"/>
          <p:nvPr userDrawn="1"/>
        </p:nvSpPr>
        <p:spPr>
          <a:xfrm>
            <a:off x="623887" y="6220031"/>
            <a:ext cx="954720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구분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지원 업무에 대해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ITIL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 정의된 기준으로 다음과 같이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5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개의 카테고리로 구분하고 있습니다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E8E7B847-1DF8-4DCF-882A-96C02AB02637}"/>
              </a:ext>
            </a:extLst>
          </p:cNvPr>
          <p:cNvSpPr txBox="1"/>
          <p:nvPr userDrawn="1"/>
        </p:nvSpPr>
        <p:spPr>
          <a:xfrm>
            <a:off x="623888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변경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서비스의 신규 생성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수정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삭제 및 관리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취약점 진단 및 관리 기술 안내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F8096B60-AB32-41CF-B08B-5E7E2F658115}"/>
              </a:ext>
            </a:extLst>
          </p:cNvPr>
          <p:cNvSpPr txBox="1"/>
          <p:nvPr userDrawn="1"/>
        </p:nvSpPr>
        <p:spPr>
          <a:xfrm>
            <a:off x="3807867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정책 구성 및 보존 관리</a:t>
            </a:r>
            <a:b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문제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성능 저하에 대한 분석과 개선 방안 마련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No_changed">
            <a:extLst>
              <a:ext uri="{FF2B5EF4-FFF2-40B4-BE49-F238E27FC236}">
                <a16:creationId xmlns:a16="http://schemas.microsoft.com/office/drawing/2014/main" id="{CA39F779-6438-4F1A-8537-8B37274B1F94}"/>
              </a:ext>
            </a:extLst>
          </p:cNvPr>
          <p:cNvSpPr txBox="1"/>
          <p:nvPr userDrawn="1"/>
        </p:nvSpPr>
        <p:spPr>
          <a:xfrm>
            <a:off x="6993425" y="6373919"/>
            <a:ext cx="31824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-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사고 관리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시스템 장애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보안 침해 등의 예방과 사후 분석 및 서비스 복구</a:t>
            </a: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No_changed">
            <a:extLst>
              <a:ext uri="{FF2B5EF4-FFF2-40B4-BE49-F238E27FC236}">
                <a16:creationId xmlns:a16="http://schemas.microsoft.com/office/drawing/2014/main" id="{A2E427C4-87E5-4CCE-9578-BB92E49635D4}"/>
              </a:ext>
            </a:extLst>
          </p:cNvPr>
          <p:cNvSpPr txBox="1"/>
          <p:nvPr userDrawn="1"/>
        </p:nvSpPr>
        <p:spPr>
          <a:xfrm>
            <a:off x="8248071" y="1422073"/>
            <a:ext cx="3320040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보고서 기간 별 진행 내역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91668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백업 현황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1416998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백업 정책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983A05A-2F90-4E9F-A1AF-6F34E0217455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92302B00-71A3-4885-A825-D27D95FF0E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7" name="No_changed">
            <a:extLst>
              <a:ext uri="{FF2B5EF4-FFF2-40B4-BE49-F238E27FC236}">
                <a16:creationId xmlns:a16="http://schemas.microsoft.com/office/drawing/2014/main" id="{BE41AA3A-E157-496E-AC66-0556318D0072}"/>
              </a:ext>
            </a:extLst>
          </p:cNvPr>
          <p:cNvSpPr txBox="1"/>
          <p:nvPr userDrawn="1"/>
        </p:nvSpPr>
        <p:spPr>
          <a:xfrm>
            <a:off x="6317674" y="1422073"/>
            <a:ext cx="525043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r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마지막월 말일 데이터 기준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, Managed Service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업무 협의 시 작성된 문서를 바탕으로 적용 </a:t>
            </a:r>
            <a:endParaRPr lang="en-US" altLang="ko-KR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No_changed">
            <a:extLst>
              <a:ext uri="{FF2B5EF4-FFF2-40B4-BE49-F238E27FC236}">
                <a16:creationId xmlns:a16="http://schemas.microsoft.com/office/drawing/2014/main" id="{14B74902-571E-4B1B-8E7F-8A3B13F678B6}"/>
              </a:ext>
            </a:extLst>
          </p:cNvPr>
          <p:cNvSpPr txBox="1"/>
          <p:nvPr userDrawn="1"/>
        </p:nvSpPr>
        <p:spPr>
          <a:xfrm>
            <a:off x="623887" y="6220031"/>
            <a:ext cx="477360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1)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설정된 주기에 백업을 준비하여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시간 이내 백업이 시작됩니다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2)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보관하는 주기입니다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                 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보관 주기 이후에 백업 데이터를 삭제합니다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sp>
        <p:nvSpPr>
          <p:cNvPr id="11" name="No_changed">
            <a:extLst>
              <a:ext uri="{FF2B5EF4-FFF2-40B4-BE49-F238E27FC236}">
                <a16:creationId xmlns:a16="http://schemas.microsoft.com/office/drawing/2014/main" id="{054B7171-8E48-483A-8DBC-727172EA4A1C}"/>
              </a:ext>
            </a:extLst>
          </p:cNvPr>
          <p:cNvSpPr txBox="1"/>
          <p:nvPr userDrawn="1"/>
        </p:nvSpPr>
        <p:spPr>
          <a:xfrm>
            <a:off x="5397487" y="6220031"/>
            <a:ext cx="477360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3)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 수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백업을 진행할 대상 리소스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인스턴스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 수량입니다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b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</a:br>
            <a:endParaRPr lang="en-US" altLang="ko-KR" sz="1000" b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4208624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dvis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권고 사항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인프라 권고 사항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BB1A66-9741-4C56-B2DB-41BDB0DA9636}"/>
              </a:ext>
            </a:extLst>
          </p:cNvPr>
          <p:cNvSpPr/>
          <p:nvPr userDrawn="1"/>
        </p:nvSpPr>
        <p:spPr>
          <a:xfrm>
            <a:off x="2724727" y="1232552"/>
            <a:ext cx="1008609" cy="27132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latin typeface="+mn-ea"/>
              <a:ea typeface="+mn-ea"/>
            </a:endParaRPr>
          </a:p>
        </p:txBody>
      </p:sp>
      <p:sp>
        <p:nvSpPr>
          <p:cNvPr id="8" name="No_changed">
            <a:extLst>
              <a:ext uri="{FF2B5EF4-FFF2-40B4-BE49-F238E27FC236}">
                <a16:creationId xmlns:a16="http://schemas.microsoft.com/office/drawing/2014/main" id="{4314402A-E82A-439F-A44A-8D77B3C0AC2D}"/>
              </a:ext>
            </a:extLst>
          </p:cNvPr>
          <p:cNvSpPr txBox="1"/>
          <p:nvPr userDrawn="1"/>
        </p:nvSpPr>
        <p:spPr>
          <a:xfrm>
            <a:off x="5749109" y="1422073"/>
            <a:ext cx="581900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* [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  <a:ea typeface="+mn-ea"/>
              </a:rPr>
              <a:t>작업 권고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]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항목에 대해 정리하여 전달 드립니다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TA_category">
            <a:extLst>
              <a:ext uri="{FF2B5EF4-FFF2-40B4-BE49-F238E27FC236}">
                <a16:creationId xmlns:a16="http://schemas.microsoft.com/office/drawing/2014/main" id="{2E7CFA81-7424-4418-8C7B-3FBFD204EEB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4004" y="1232665"/>
            <a:ext cx="1008609" cy="27120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1" spc="-150">
                <a:solidFill>
                  <a:schemeClr val="bg1"/>
                </a:solidFill>
                <a:latin typeface="+mn-lt"/>
                <a:ea typeface="+mj-ea"/>
              </a:defRPr>
            </a:lvl1pPr>
            <a:lvl2pPr>
              <a:defRPr sz="1800">
                <a:solidFill>
                  <a:schemeClr val="bg2">
                    <a:lumMod val="25000"/>
                  </a:schemeClr>
                </a:solidFill>
              </a:defRPr>
            </a:lvl2pPr>
            <a:lvl3pPr>
              <a:defRPr sz="1800">
                <a:solidFill>
                  <a:schemeClr val="bg2">
                    <a:lumMod val="25000"/>
                  </a:schemeClr>
                </a:solidFill>
              </a:defRPr>
            </a:lvl3pPr>
            <a:lvl4pPr>
              <a:defRPr sz="1800">
                <a:solidFill>
                  <a:schemeClr val="bg2">
                    <a:lumMod val="25000"/>
                  </a:schemeClr>
                </a:solidFill>
              </a:defRPr>
            </a:lvl4pPr>
            <a:lvl5pPr>
              <a:defRPr sz="18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ko-KR" altLang="en-US" dirty="0"/>
              <a:t>비용 최적화</a:t>
            </a:r>
            <a:endParaRPr lang="en-US" altLang="ko-KR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1543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6">
            <a:extLst>
              <a:ext uri="{FF2B5EF4-FFF2-40B4-BE49-F238E27FC236}">
                <a16:creationId xmlns:a16="http://schemas.microsoft.com/office/drawing/2014/main" id="{8D0EA92F-D9CC-4E65-B30D-F1A3C5A77770}"/>
              </a:ext>
            </a:extLst>
          </p:cNvPr>
          <p:cNvSpPr txBox="1">
            <a:spLocks/>
          </p:cNvSpPr>
          <p:nvPr userDrawn="1"/>
        </p:nvSpPr>
        <p:spPr>
          <a:xfrm>
            <a:off x="482139" y="477520"/>
            <a:ext cx="11085974" cy="415637"/>
          </a:xfrm>
          <a:prstGeom prst="rect">
            <a:avLst/>
          </a:prstGeom>
        </p:spPr>
        <p:txBody>
          <a:bodyPr lIns="90000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sz="2400" b="1" kern="1200" spc="-3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rgbClr val="0A2342"/>
                </a:solidFill>
              </a:rPr>
              <a:t>종합 의견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18D884-7CC7-4F5F-B19C-7AF16AABC3AC}"/>
              </a:ext>
            </a:extLst>
          </p:cNvPr>
          <p:cNvSpPr txBox="1"/>
          <p:nvPr userDrawn="1"/>
        </p:nvSpPr>
        <p:spPr>
          <a:xfrm>
            <a:off x="482140" y="1160463"/>
            <a:ext cx="2242587" cy="415498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en-US" altLang="ko-KR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&gt; </a:t>
            </a:r>
            <a:r>
              <a:rPr lang="ko-KR" altLang="en-US" sz="2100" b="1" spc="-150" dirty="0">
                <a:solidFill>
                  <a:schemeClr val="bg2">
                    <a:lumMod val="25000"/>
                  </a:schemeClr>
                </a:solidFill>
                <a:latin typeface="+mn-ea"/>
                <a:ea typeface="+mn-ea"/>
              </a:rPr>
              <a:t>종합 의견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6B7693B-7CA4-433F-A7E8-B9B08141D8A8}"/>
              </a:ext>
            </a:extLst>
          </p:cNvPr>
          <p:cNvCxnSpPr>
            <a:cxnSpLocks/>
          </p:cNvCxnSpPr>
          <p:nvPr userDrawn="1"/>
        </p:nvCxnSpPr>
        <p:spPr>
          <a:xfrm>
            <a:off x="478367" y="980234"/>
            <a:ext cx="11235267" cy="0"/>
          </a:xfrm>
          <a:prstGeom prst="line">
            <a:avLst/>
          </a:prstGeom>
          <a:ln w="19050">
            <a:solidFill>
              <a:srgbClr val="0A234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E1ECE617-AE97-4463-9285-E663765129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863" b="-10453"/>
          <a:stretch/>
        </p:blipFill>
        <p:spPr>
          <a:xfrm>
            <a:off x="10174245" y="6220032"/>
            <a:ext cx="1539389" cy="436994"/>
          </a:xfrm>
          <a:prstGeom prst="rect">
            <a:avLst/>
          </a:prstGeom>
        </p:spPr>
      </p:pic>
      <p:sp>
        <p:nvSpPr>
          <p:cNvPr id="6" name="No_changed">
            <a:extLst>
              <a:ext uri="{FF2B5EF4-FFF2-40B4-BE49-F238E27FC236}">
                <a16:creationId xmlns:a16="http://schemas.microsoft.com/office/drawing/2014/main" id="{D908AD07-CF20-40A4-9BB1-641040CA3465}"/>
              </a:ext>
            </a:extLst>
          </p:cNvPr>
          <p:cNvSpPr txBox="1"/>
          <p:nvPr userDrawn="1"/>
        </p:nvSpPr>
        <p:spPr>
          <a:xfrm>
            <a:off x="623887" y="6220031"/>
            <a:ext cx="9924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333333"/>
                </a:solidFill>
                <a:latin typeface="맑은 고딕" panose="020B0600000000000000" pitchFamily="34" charset="-127"/>
                <a:ea typeface="맑은 고딕" panose="020B0600000000000000" pitchFamily="34" charset="-127"/>
                <a:cs typeface="Arial" panose="020B0604020202020204" pitchFamily="34" charset="0"/>
              </a:defRPr>
            </a:lvl1pPr>
          </a:lstStyle>
          <a:p>
            <a:pPr marL="228600" indent="-228600" algn="l">
              <a:buAutoNum type="arabicParenR"/>
            </a:pP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의견</a:t>
            </a:r>
            <a:r>
              <a:rPr lang="en-US" altLang="ko-KR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: 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담당 매니저가 작성한 보고서 기간별 현황에 대한 의견입니다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 </a:t>
            </a:r>
          </a:p>
          <a:p>
            <a:pPr marL="0" indent="0" algn="l">
              <a:buNone/>
            </a:pP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관련하여 개선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/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조치 등의 작업이 필요하신 경우 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Support Portal(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hlinkClick r:id="rId3"/>
              </a:rPr>
              <a:t>바로가기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)</a:t>
            </a:r>
            <a:r>
              <a:rPr lang="ko-KR" altLang="en-US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에서 티켓 요청 부탁 드립니다</a:t>
            </a:r>
            <a:r>
              <a:rPr lang="en-US" altLang="ko-KR" sz="1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rPr>
              <a:t>.</a:t>
            </a:r>
            <a:endParaRPr lang="en-US" altLang="ko-KR" sz="1000" b="0" i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421538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bg>
      <p:bgPr>
        <a:blipFill dpi="0" rotWithShape="1">
          <a:blip r:embed="rId2">
            <a:lum/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07BA649D-AFF2-4F85-8434-DD1F22C25EC3}"/>
              </a:ext>
            </a:extLst>
          </p:cNvPr>
          <p:cNvSpPr txBox="1">
            <a:spLocks/>
          </p:cNvSpPr>
          <p:nvPr userDrawn="1"/>
        </p:nvSpPr>
        <p:spPr>
          <a:xfrm>
            <a:off x="1064742" y="3079866"/>
            <a:ext cx="3282813" cy="698268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sz="4400" b="1" kern="1200" spc="-300">
                <a:solidFill>
                  <a:schemeClr val="bg1"/>
                </a:solidFill>
                <a:latin typeface="맑은 고딕" panose="020B0503020000020004" pitchFamily="50" charset="-127"/>
                <a:ea typeface="+mj-ea"/>
                <a:cs typeface="+mj-cs"/>
              </a:defRPr>
            </a:lvl1pPr>
          </a:lstStyle>
          <a:p>
            <a:r>
              <a:rPr lang="en-US" altLang="ko-KR" sz="4800" dirty="0"/>
              <a:t>Thank you </a:t>
            </a:r>
            <a:endParaRPr lang="ko-KR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674810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8118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50" r:id="rId2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93" userDrawn="1">
          <p15:clr>
            <a:srgbClr val="F26B43"/>
          </p15:clr>
        </p15:guide>
        <p15:guide id="4" pos="7287" userDrawn="1">
          <p15:clr>
            <a:srgbClr val="F26B43"/>
          </p15:clr>
        </p15:guide>
        <p15:guide id="5" orient="horz" pos="731" userDrawn="1">
          <p15:clr>
            <a:srgbClr val="F26B43"/>
          </p15:clr>
        </p15:guide>
        <p15:guide id="6" orient="horz" pos="3861" userDrawn="1">
          <p15:clr>
            <a:srgbClr val="F26B43"/>
          </p15:clr>
        </p15:guide>
        <p15:guide id="7" pos="302" userDrawn="1">
          <p15:clr>
            <a:srgbClr val="A4A3A4"/>
          </p15:clr>
        </p15:guide>
        <p15:guide id="8" pos="7378" userDrawn="1">
          <p15:clr>
            <a:srgbClr val="A4A3A4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chart" Target="../charts/char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9.xml"/><Relationship Id="rId3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chart" Target="../charts/chart21.xml"/><Relationship Id="rId3" Type="http://schemas.openxmlformats.org/officeDocument/2006/relationships/chart" Target="../charts/chart2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chart" Target="../charts/chart25.xml"/><Relationship Id="rId3" Type="http://schemas.openxmlformats.org/officeDocument/2006/relationships/chart" Target="../charts/chart2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chart" Target="../charts/chart27.xml"/><Relationship Id="rId3" Type="http://schemas.openxmlformats.org/officeDocument/2006/relationships/chart" Target="../charts/chart2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B02D6F-2520-962E-D947-684E3F443E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E625A77F-B087-1140-D6B5-6E5B8DF9A6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5260D06B-2BA4-005E-1B70-CB2B5C91F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4728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">
            <a:extLst>
              <a:ext uri="{FF2B5EF4-FFF2-40B4-BE49-F238E27FC236}">
                <a16:creationId xmlns:a16="http://schemas.microsoft.com/office/drawing/2014/main" id="{F8837D85-33CC-4E0D-8DC5-F000A7C965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ko-KR" altLang="en-US" dirty="0"/>
              <a:t>운영 정보</a:t>
            </a:r>
            <a:endParaRPr lang="en-US" altLang="ko-KR" dirty="0"/>
          </a:p>
          <a:p>
            <a:pPr lvl="0"/>
            <a:r>
              <a:rPr lang="en-US" altLang="ko-KR" dirty="0"/>
              <a:t>IAM </a:t>
            </a:r>
            <a:r>
              <a:rPr lang="ko-KR" altLang="en-US" dirty="0"/>
              <a:t>현황</a:t>
            </a:r>
            <a:endParaRPr lang="en-US" altLang="ko-KR" dirty="0"/>
          </a:p>
          <a:p>
            <a:pPr lvl="0"/>
            <a:r>
              <a:rPr lang="ko-KR" altLang="en-US" dirty="0"/>
              <a:t>자원 현황</a:t>
            </a:r>
            <a:endParaRPr lang="en-US" altLang="ko-KR" dirty="0"/>
          </a:p>
          <a:p>
            <a:pPr lvl="0"/>
            <a:r>
              <a:rPr lang="ko-KR" altLang="en-US" dirty="0"/>
              <a:t>업무 현황</a:t>
            </a:r>
            <a:endParaRPr lang="en-US" altLang="ko-KR" dirty="0"/>
          </a:p>
          <a:p>
            <a:pPr lvl="0"/>
            <a:r>
              <a:rPr lang="ko-KR" altLang="en-US" dirty="0"/>
              <a:t>백업 현황</a:t>
            </a:r>
            <a:endParaRPr lang="en-US" altLang="ko-KR" dirty="0"/>
          </a:p>
          <a:p>
            <a:pPr lvl="0"/>
            <a:r>
              <a:rPr lang="ko-KR" altLang="en-US" dirty="0"/>
              <a:t>권고 사항</a:t>
            </a:r>
            <a:endParaRPr lang="en-US" altLang="ko-KR" dirty="0"/>
          </a:p>
          <a:p>
            <a:pPr lvl="0"/>
            <a:r>
              <a:rPr lang="ko-KR" altLang="en-US" dirty="0"/>
              <a:t>종합 의견</a:t>
            </a:r>
          </a:p>
        </p:txBody>
      </p:sp>
    </p:spTree>
    <p:extLst>
      <p:ext uri="{BB962C8B-B14F-4D97-AF65-F5344CB8AC3E}">
        <p14:creationId xmlns:p14="http://schemas.microsoft.com/office/powerpoint/2010/main" val="381737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 hidden="1">
            <a:extLst>
              <a:ext uri="{FF2B5EF4-FFF2-40B4-BE49-F238E27FC236}">
                <a16:creationId xmlns:a16="http://schemas.microsoft.com/office/drawing/2014/main" id="{7D3CAF01-6294-003D-C5F9-A0FA697D32F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55942" y="5697537"/>
            <a:ext cx="8357686" cy="271756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5878F0E9-3BFD-9C33-8F6D-5F176899728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6747B93-7689-91EF-3216-99AC2A6706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9E07C006-99F6-8682-460B-17EDE316A2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055554EC-1FB5-E8E2-0591-CA1699BD3B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2E834455-CD72-8E5D-12A7-28321DDC3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E703F9B8-E15D-FD86-60BB-B8AD555DC0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25" name="텍스트 개체 틀 24">
            <a:extLst>
              <a:ext uri="{FF2B5EF4-FFF2-40B4-BE49-F238E27FC236}">
                <a16:creationId xmlns:a16="http://schemas.microsoft.com/office/drawing/2014/main" id="{27B89ADC-15B4-ABF8-662A-16D1DA320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8092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chart">
            <a:extLst>
              <a:ext uri="{FF2B5EF4-FFF2-40B4-BE49-F238E27FC236}">
                <a16:creationId xmlns:a16="http://schemas.microsoft.com/office/drawing/2014/main" id="{2388E0CB-E2BC-4F28-A878-11F0B6D9856A}"/>
              </a:ext>
            </a:extLst>
          </p:cNvPr>
          <p:cNvGraphicFramePr/>
          <p:nvPr/>
        </p:nvGraphicFramePr>
        <p:xfrm>
          <a:off x="6240462" y="1934786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A09ABE7-3A8F-D559-A847-D8948A668A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3478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Group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그룹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User 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aad_summary_chart">
            <a:extLst>
              <a:ext uri="{FF2B5EF4-FFF2-40B4-BE49-F238E27FC236}">
                <a16:creationId xmlns:a16="http://schemas.microsoft.com/office/drawing/2014/main" id="{8ABC8FE3-FC53-8C6C-44D6-DC2C35CC8570}"/>
              </a:ext>
            </a:extLst>
          </p:cNvPr>
          <p:cNvGraphicFramePr/>
          <p:nvPr/>
        </p:nvGraphicFramePr>
        <p:xfrm>
          <a:off x="6240462" y="4072341"/>
          <a:ext cx="5327649" cy="11931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1397120-7F39-7196-1B8E-64CCD1ECABD2}"/>
              </a:ext>
            </a:extLst>
          </p:cNvPr>
          <p:cNvGraphicFramePr>
            <a:graphicFrameLocks noGrp="1"/>
          </p:cNvGraphicFramePr>
          <p:nvPr/>
        </p:nvGraphicFramePr>
        <p:xfrm>
          <a:off x="623887" y="4072342"/>
          <a:ext cx="5327648" cy="1193138"/>
        </p:xfrm>
        <a:graphic>
          <a:graphicData uri="http://schemas.openxmlformats.org/drawingml/2006/table">
            <a:tbl>
              <a:tblPr/>
              <a:tblGrid>
                <a:gridCol w="1766888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847725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23925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827704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구글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서비스 계정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사용자 관리형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5458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6D68EF-30AB-6737-BE4E-87876363ACD4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869E4931-317C-520B-E177-3B28DB92ADBC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80FC0FBF-5A49-5EEE-2D6D-918C283C5DA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3100876E-5C19-0475-B28A-D77D366E563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775519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설정됨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402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73BC82CE-11B2-4A4F-8E58-50C7F9EF0F88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미만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90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일 초과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4" name="disk_chart">
            <a:extLst>
              <a:ext uri="{FF2B5EF4-FFF2-40B4-BE49-F238E27FC236}">
                <a16:creationId xmlns:a16="http://schemas.microsoft.com/office/drawing/2014/main" id="{C3808419-792D-983D-1043-42BA91892C47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aad_summary_table">
            <a:extLst>
              <a:ext uri="{FF2B5EF4-FFF2-40B4-BE49-F238E27FC236}">
                <a16:creationId xmlns:a16="http://schemas.microsoft.com/office/drawing/2014/main" id="{1325C80F-8225-C0AE-15DE-71422330B81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단일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다중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068B001A-0CA9-24C2-5EBE-E81C702C88F0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772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aad_summary_table">
            <a:extLst>
              <a:ext uri="{FF2B5EF4-FFF2-40B4-BE49-F238E27FC236}">
                <a16:creationId xmlns:a16="http://schemas.microsoft.com/office/drawing/2014/main" id="{6FCD72CD-C86F-1B5E-44C1-5C6415DAC06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asia-northeast3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전역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720F98BC-2874-7342-D877-47BABC6E95AC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799E6869-010B-427E-5827-A581C4E9C0D6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276F9703-6CE0-1C62-303B-B288A2C8E26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내부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외부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1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chart">
            <a:extLst>
              <a:ext uri="{FF2B5EF4-FFF2-40B4-BE49-F238E27FC236}">
                <a16:creationId xmlns:a16="http://schemas.microsoft.com/office/drawing/2014/main" id="{50D510CC-01A8-282C-3AB5-4C9D39DD5324}"/>
              </a:ext>
            </a:extLst>
          </p:cNvPr>
          <p:cNvGraphicFramePr/>
          <p:nvPr/>
        </p:nvGraphicFramePr>
        <p:xfrm>
          <a:off x="6095999" y="37350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aad_summary_table">
            <a:extLst>
              <a:ext uri="{FF2B5EF4-FFF2-40B4-BE49-F238E27FC236}">
                <a16:creationId xmlns:a16="http://schemas.microsoft.com/office/drawing/2014/main" id="{2EF3B4B2-335C-FA5B-7456-F0D48350AFF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6395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송신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수신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허용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01E48232-A0C2-74DF-4CCF-90AF63467613}"/>
              </a:ext>
            </a:extLst>
          </p:cNvPr>
          <p:cNvGraphicFramePr/>
          <p:nvPr/>
        </p:nvGraphicFramePr>
        <p:xfrm>
          <a:off x="6095999" y="1639512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CC9BF86-75B1-64F9-6AF2-BA33A35F51E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3735012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9924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vm_type_table">
            <a:extLst>
              <a:ext uri="{FF2B5EF4-FFF2-40B4-BE49-F238E27FC236}">
                <a16:creationId xmlns:a16="http://schemas.microsoft.com/office/drawing/2014/main" id="{CB5CFDB3-E96C-E9C7-0FC3-6E90D99C4655}"/>
              </a:ext>
            </a:extLst>
          </p:cNvPr>
          <p:cNvGraphicFramePr>
            <a:graphicFrameLocks noGrp="1"/>
          </p:cNvGraphicFramePr>
          <p:nvPr/>
        </p:nvGraphicFramePr>
        <p:xfrm>
          <a:off x="6240462" y="1945293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vm_table">
            <a:extLst>
              <a:ext uri="{FF2B5EF4-FFF2-40B4-BE49-F238E27FC236}">
                <a16:creationId xmlns:a16="http://schemas.microsoft.com/office/drawing/2014/main" id="{5E03E875-9164-909A-622D-B156B780C9D6}"/>
              </a:ext>
            </a:extLst>
          </p:cNvPr>
          <p:cNvGraphicFramePr>
            <a:graphicFrameLocks noGrp="1"/>
          </p:cNvGraphicFramePr>
          <p:nvPr/>
        </p:nvGraphicFramePr>
        <p:xfrm>
          <a:off x="623884" y="1945293"/>
          <a:ext cx="5327655" cy="929021"/>
        </p:xfrm>
        <a:graphic>
          <a:graphicData uri="http://schemas.openxmlformats.org/drawingml/2006/table">
            <a:tbl>
              <a:tblPr/>
              <a:tblGrid>
                <a:gridCol w="1065531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507963743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3867013477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1065531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6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VM State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Running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2981723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Deallocated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dirty="0"/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BEB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vm_region_chart">
            <a:extLst>
              <a:ext uri="{FF2B5EF4-FFF2-40B4-BE49-F238E27FC236}">
                <a16:creationId xmlns:a16="http://schemas.microsoft.com/office/drawing/2014/main" id="{4885C055-48C1-43D7-9D29-BE81269DD02A}"/>
              </a:ext>
            </a:extLst>
          </p:cNvPr>
          <p:cNvGraphicFramePr/>
          <p:nvPr/>
        </p:nvGraphicFramePr>
        <p:xfrm>
          <a:off x="623884" y="3429001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74496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sk_type_table">
            <a:extLst>
              <a:ext uri="{FF2B5EF4-FFF2-40B4-BE49-F238E27FC236}">
                <a16:creationId xmlns:a16="http://schemas.microsoft.com/office/drawing/2014/main" id="{F917BED5-1B19-894C-5A45-F4E943F1D2B1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Disk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type_chart">
            <a:extLst>
              <a:ext uri="{FF2B5EF4-FFF2-40B4-BE49-F238E27FC236}">
                <a16:creationId xmlns:a16="http://schemas.microsoft.com/office/drawing/2014/main" id="{DD49D651-D917-520B-B027-BB176E068299}"/>
              </a:ext>
            </a:extLst>
          </p:cNvPr>
          <p:cNvGraphicFramePr/>
          <p:nvPr/>
        </p:nvGraphicFramePr>
        <p:xfrm>
          <a:off x="6240461" y="1945292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type_table">
            <a:extLst>
              <a:ext uri="{FF2B5EF4-FFF2-40B4-BE49-F238E27FC236}">
                <a16:creationId xmlns:a16="http://schemas.microsoft.com/office/drawing/2014/main" id="{DB94C9A0-EA3E-31E7-C915-1CAC87B45219}"/>
              </a:ext>
            </a:extLst>
          </p:cNvPr>
          <p:cNvGraphicFramePr>
            <a:graphicFrameLocks noGrp="1"/>
          </p:cNvGraphicFramePr>
          <p:nvPr/>
        </p:nvGraphicFramePr>
        <p:xfrm>
          <a:off x="768353" y="4597678"/>
          <a:ext cx="5327647" cy="1531195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218170814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0175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대상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Snapshot Total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Image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0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Total</a:t>
                      </a: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1525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Disk Idle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0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3" name="disk_type_chart">
            <a:extLst>
              <a:ext uri="{FF2B5EF4-FFF2-40B4-BE49-F238E27FC236}">
                <a16:creationId xmlns:a16="http://schemas.microsoft.com/office/drawing/2014/main" id="{1D34804F-A70B-0EFD-B8E5-9CDD55B02520}"/>
              </a:ext>
            </a:extLst>
          </p:cNvPr>
          <p:cNvGraphicFramePr/>
          <p:nvPr/>
        </p:nvGraphicFramePr>
        <p:xfrm>
          <a:off x="623889" y="1945291"/>
          <a:ext cx="5327651" cy="25976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564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DC7F-FEDA-66EE-EE64-78FEFFD9A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B07AFCF6-3344-74FE-1E9C-178B661D5760}"/>
              </a:ext>
            </a:extLst>
          </p:cNvPr>
          <p:cNvGraphicFramePr/>
          <p:nvPr/>
        </p:nvGraphicFramePr>
        <p:xfrm>
          <a:off x="6096000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vm_type_table">
            <a:extLst>
              <a:ext uri="{FF2B5EF4-FFF2-40B4-BE49-F238E27FC236}">
                <a16:creationId xmlns:a16="http://schemas.microsoft.com/office/drawing/2014/main" id="{BFBF71FF-74E5-8F75-67E8-C0E77E18026D}"/>
              </a:ext>
            </a:extLst>
          </p:cNvPr>
          <p:cNvGraphicFramePr>
            <a:graphicFrameLocks noGrp="1"/>
          </p:cNvGraphicFramePr>
          <p:nvPr/>
        </p:nvGraphicFramePr>
        <p:xfrm>
          <a:off x="656091" y="2033325"/>
          <a:ext cx="5327647" cy="4184042"/>
        </p:xfrm>
        <a:graphic>
          <a:graphicData uri="http://schemas.openxmlformats.org/drawingml/2006/table">
            <a:tbl>
              <a:tblPr/>
              <a:tblGrid>
                <a:gridCol w="1482023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413172533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27889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657017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900394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9045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62029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1884453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564718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0463230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5133879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5087431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7281715"/>
                  </a:ext>
                </a:extLst>
              </a:tr>
              <a:tr h="325429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1325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2969880F-8478-0A45-033C-DDF40E87A373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안 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사용 중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BCE6F459-8EF4-1F16-4117-00E51FB4D82D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C575862-2E11-FA55-671E-99E1C09DBE43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5F71A103-92F6-DFDE-A91D-DB61AE35A9A0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개체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ACL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공개 아님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5012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lb_backend_table">
            <a:extLst>
              <a:ext uri="{FF2B5EF4-FFF2-40B4-BE49-F238E27FC236}">
                <a16:creationId xmlns:a16="http://schemas.microsoft.com/office/drawing/2014/main" id="{F53326CB-EC99-BA1D-C382-41E5F5886F73}"/>
              </a:ext>
            </a:extLst>
          </p:cNvPr>
          <p:cNvGraphicFramePr>
            <a:graphicFrameLocks noGrp="1"/>
          </p:cNvGraphicFramePr>
          <p:nvPr/>
        </p:nvGraphicFramePr>
        <p:xfrm>
          <a:off x="6240463" y="5189373"/>
          <a:ext cx="5327649" cy="939965"/>
        </p:xfrm>
        <a:graphic>
          <a:graphicData uri="http://schemas.openxmlformats.org/drawingml/2006/table">
            <a:tbl>
              <a:tblPr/>
              <a:tblGrid>
                <a:gridCol w="1433357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629119763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73573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773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3142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내부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9085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ko-KR" altLang="en-US" dirty="0"/>
                        <a:t>외부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F5597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lb_table">
            <a:extLst>
              <a:ext uri="{FF2B5EF4-FFF2-40B4-BE49-F238E27FC236}">
                <a16:creationId xmlns:a16="http://schemas.microsoft.com/office/drawing/2014/main" id="{3DE50190-B942-32C3-275E-9B8466AA85E2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5199005"/>
          <a:ext cx="5327650" cy="931107"/>
        </p:xfrm>
        <a:graphic>
          <a:graphicData uri="http://schemas.openxmlformats.org/drawingml/2006/table">
            <a:tbl>
              <a:tblPr/>
              <a:tblGrid>
                <a:gridCol w="136881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28829180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2720110367"/>
                    </a:ext>
                  </a:extLst>
                </a:gridCol>
                <a:gridCol w="989709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0483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LB Type</a:t>
                      </a:r>
                      <a:endParaRPr lang="ko-KR" altLang="en-US" sz="1200" b="1" i="0" u="none" strike="noStrike" dirty="0"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270568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Application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355701"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/>
                        <a:t>Network</a:t>
                      </a:r>
                      <a:endParaRPr dirty="0"/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7" name="lb_chart">
            <a:extLst>
              <a:ext uri="{FF2B5EF4-FFF2-40B4-BE49-F238E27FC236}">
                <a16:creationId xmlns:a16="http://schemas.microsoft.com/office/drawing/2014/main" id="{71689085-CF96-5426-F4D2-5C8BAAB41FFB}"/>
              </a:ext>
            </a:extLst>
          </p:cNvPr>
          <p:cNvGraphicFramePr/>
          <p:nvPr/>
        </p:nvGraphicFramePr>
        <p:xfrm>
          <a:off x="623886" y="2019238"/>
          <a:ext cx="5327649" cy="26288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lb_region_chart">
            <a:extLst>
              <a:ext uri="{FF2B5EF4-FFF2-40B4-BE49-F238E27FC236}">
                <a16:creationId xmlns:a16="http://schemas.microsoft.com/office/drawing/2014/main" id="{5F6EA1D9-8A0D-F5FF-EC8C-74E77E40F573}"/>
              </a:ext>
            </a:extLst>
          </p:cNvPr>
          <p:cNvGraphicFramePr/>
          <p:nvPr/>
        </p:nvGraphicFramePr>
        <p:xfrm>
          <a:off x="6240463" y="1939238"/>
          <a:ext cx="5327651" cy="27088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6804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0A35D-13B6-853A-4C1C-35A4971A8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aad_summary_table">
            <a:extLst>
              <a:ext uri="{FF2B5EF4-FFF2-40B4-BE49-F238E27FC236}">
                <a16:creationId xmlns:a16="http://schemas.microsoft.com/office/drawing/2014/main" id="{2128B95A-5772-8F23-9F98-12ACE019790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만료되지 않음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만료됨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BE9372C-CC4E-8F95-29A5-CFE42EF7FED9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3" name="disk_chart">
            <a:extLst>
              <a:ext uri="{FF2B5EF4-FFF2-40B4-BE49-F238E27FC236}">
                <a16:creationId xmlns:a16="http://schemas.microsoft.com/office/drawing/2014/main" id="{CF580632-B3E9-EA27-B57F-961A26224D7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BEBC9826-6FF6-D5EE-AD4B-861F05B4F21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Google </a:t>
                      </a: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관리형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자체 관리형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7765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aad_summary_table">
            <a:extLst>
              <a:ext uri="{FF2B5EF4-FFF2-40B4-BE49-F238E27FC236}">
                <a16:creationId xmlns:a16="http://schemas.microsoft.com/office/drawing/2014/main" id="{66825712-88BA-5749-BF45-DCD3610776FF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고가용성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기본 </a:t>
                      </a:r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VPN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5" name="disk_chart">
            <a:extLst>
              <a:ext uri="{FF2B5EF4-FFF2-40B4-BE49-F238E27FC236}">
                <a16:creationId xmlns:a16="http://schemas.microsoft.com/office/drawing/2014/main" id="{4738082D-0328-F8DA-737E-EFC856E4042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disk_chart">
            <a:extLst>
              <a:ext uri="{FF2B5EF4-FFF2-40B4-BE49-F238E27FC236}">
                <a16:creationId xmlns:a16="http://schemas.microsoft.com/office/drawing/2014/main" id="{CF78984B-D67A-2A7D-540A-731414ED21F4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aad_summary_table">
            <a:extLst>
              <a:ext uri="{FF2B5EF4-FFF2-40B4-BE49-F238E27FC236}">
                <a16:creationId xmlns:a16="http://schemas.microsoft.com/office/drawing/2014/main" id="{EF2A2AF1-0BF3-75FE-54BB-3A1DAB9C2805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연결됨</a:t>
                      </a:r>
                      <a:endParaRPr lang="en-US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연결 안 됨</a:t>
                      </a: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497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8677FC6A-B931-72B3-39EB-4443979A7C09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AA8445BE-B9E0-37CA-3ABF-8252DD0C7EF7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7C41BD9F-50D0-A8ED-E31D-1FBEAB540CC6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46946B76-18C0-0222-6F38-BD36A5720CFD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77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709FCAAB-DCBB-FA80-D7F3-55F9ABF581D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B2F208EA-8597-DF0E-DD24-D0399C4F83F6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2850C46A-D660-A2DD-15F4-3457F35A618F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0DCB4BD2-BD4E-283C-112D-5ACD83C23F4B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9702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0CEEEE9A-6FCF-AA41-3BF7-79D51DD8FE91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D67C7B67-EAE8-8D37-C973-7DAF6685F852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C4F74B93-C4ED-6D4A-6C01-F5F1B753CD01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68F029FC-198F-B938-2026-80DB2F02617A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3829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aad_summary_table">
            <a:extLst>
              <a:ext uri="{FF2B5EF4-FFF2-40B4-BE49-F238E27FC236}">
                <a16:creationId xmlns:a16="http://schemas.microsoft.com/office/drawing/2014/main" id="{9A984C35-7B72-0B44-142F-C4DF73C05746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4282024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  <p:graphicFrame>
        <p:nvGraphicFramePr>
          <p:cNvPr id="9" name="disk_chart">
            <a:extLst>
              <a:ext uri="{FF2B5EF4-FFF2-40B4-BE49-F238E27FC236}">
                <a16:creationId xmlns:a16="http://schemas.microsoft.com/office/drawing/2014/main" id="{1607BBD5-EB2A-F77D-339C-FAF8A38BF230}"/>
              </a:ext>
            </a:extLst>
          </p:cNvPr>
          <p:cNvGraphicFramePr/>
          <p:nvPr/>
        </p:nvGraphicFramePr>
        <p:xfrm>
          <a:off x="6095998" y="1963720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disk_chart">
            <a:extLst>
              <a:ext uri="{FF2B5EF4-FFF2-40B4-BE49-F238E27FC236}">
                <a16:creationId xmlns:a16="http://schemas.microsoft.com/office/drawing/2014/main" id="{3B51CDFB-E1E2-81D6-8D49-0207838F6617}"/>
              </a:ext>
            </a:extLst>
          </p:cNvPr>
          <p:cNvGraphicFramePr/>
          <p:nvPr/>
        </p:nvGraphicFramePr>
        <p:xfrm>
          <a:off x="6095999" y="4282024"/>
          <a:ext cx="5327651" cy="18075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aad_summary_table">
            <a:extLst>
              <a:ext uri="{FF2B5EF4-FFF2-40B4-BE49-F238E27FC236}">
                <a16:creationId xmlns:a16="http://schemas.microsoft.com/office/drawing/2014/main" id="{550C3A7B-9B3C-05CE-4723-C100B0A3C9F7}"/>
              </a:ext>
            </a:extLst>
          </p:cNvPr>
          <p:cNvGraphicFramePr>
            <a:graphicFrameLocks noGrp="1"/>
          </p:cNvGraphicFramePr>
          <p:nvPr/>
        </p:nvGraphicFramePr>
        <p:xfrm>
          <a:off x="623888" y="1979407"/>
          <a:ext cx="5327648" cy="1193138"/>
        </p:xfrm>
        <a:graphic>
          <a:graphicData uri="http://schemas.openxmlformats.org/drawingml/2006/table">
            <a:tbl>
              <a:tblPr/>
              <a:tblGrid>
                <a:gridCol w="1482024">
                  <a:extLst>
                    <a:ext uri="{9D8B030D-6E8A-4147-A177-3AD203B41FA5}">
                      <a16:colId xmlns:a16="http://schemas.microsoft.com/office/drawing/2014/main" val="456653342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933924219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4075546655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1135370380"/>
                    </a:ext>
                  </a:extLst>
                </a:gridCol>
                <a:gridCol w="961406">
                  <a:extLst>
                    <a:ext uri="{9D8B030D-6E8A-4147-A177-3AD203B41FA5}">
                      <a16:colId xmlns:a16="http://schemas.microsoft.com/office/drawing/2014/main" val="885301893"/>
                    </a:ext>
                  </a:extLst>
                </a:gridCol>
              </a:tblGrid>
              <a:tr h="3579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25.12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26.01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26.02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26.03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387446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6750639"/>
                  </a:ext>
                </a:extLst>
              </a:tr>
              <a:tr h="41761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1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CC0000"/>
                          </a:solidFill>
                        </a:defRPr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8390" marR="8390" marT="839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234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0692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731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2178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092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705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9259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59C2D7-AD54-FC4D-10FB-B782428E2A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96696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1874334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Body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9276</TotalTime>
  <Words>463</Words>
  <Application>Microsoft Office PowerPoint</Application>
  <PresentationFormat>와이드스크린</PresentationFormat>
  <Paragraphs>407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Wingdings</vt:lpstr>
      <vt:lpstr>ReportBody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MZC01-HANBJ</dc:creator>
  <cp:lastModifiedBy>(MZC MSC) 허동진</cp:lastModifiedBy>
  <cp:revision>323</cp:revision>
  <dcterms:created xsi:type="dcterms:W3CDTF">2021-08-27T01:36:26Z</dcterms:created>
  <dcterms:modified xsi:type="dcterms:W3CDTF">2026-07-22T10:36:58Z</dcterms:modified>
</cp:coreProperties>
</file>